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600" r:id="rId25"/>
    <p:sldId id="279" r:id="rId26"/>
    <p:sldId id="280" r:id="rId27"/>
    <p:sldId id="281" r:id="rId28"/>
    <p:sldId id="282" r:id="rId29"/>
    <p:sldId id="283" r:id="rId30"/>
    <p:sldId id="284" r:id="rId31"/>
    <p:sldId id="285" r:id="rId32"/>
    <p:sldId id="2901" r:id="rId33"/>
    <p:sldId id="286" r:id="rId34"/>
    <p:sldId id="2902" r:id="rId35"/>
    <p:sldId id="287" r:id="rId36"/>
    <p:sldId id="288" r:id="rId37"/>
    <p:sldId id="289" r:id="rId38"/>
    <p:sldId id="2970" r:id="rId39"/>
    <p:sldId id="290" r:id="rId40"/>
    <p:sldId id="291" r:id="rId41"/>
    <p:sldId id="292" r:id="rId42"/>
    <p:sldId id="293" r:id="rId43"/>
    <p:sldId id="294" r:id="rId44"/>
    <p:sldId id="295" r:id="rId45"/>
    <p:sldId id="296" r:id="rId46"/>
    <p:sldId id="297" r:id="rId47"/>
    <p:sldId id="298" r:id="rId48"/>
    <p:sldId id="299" r:id="rId49"/>
    <p:sldId id="2951" r:id="rId50"/>
    <p:sldId id="300" r:id="rId51"/>
    <p:sldId id="301" r:id="rId52"/>
    <p:sldId id="302"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06"/>
    <p:restoredTop sz="84110"/>
  </p:normalViewPr>
  <p:slideViewPr>
    <p:cSldViewPr snapToGrid="0" snapToObjects="1">
      <p:cViewPr varScale="1">
        <p:scale>
          <a:sx n="101" d="100"/>
          <a:sy n="101" d="100"/>
        </p:scale>
        <p:origin x="1304" y="200"/>
      </p:cViewPr>
      <p:guideLst/>
    </p:cSldViewPr>
  </p:slideViewPr>
  <p:notesTextViewPr>
    <p:cViewPr>
      <p:scale>
        <a:sx n="1" d="1"/>
        <a:sy n="1" d="1"/>
      </p:scale>
      <p:origin x="0" y="0"/>
    </p:cViewPr>
  </p:notesTextViewPr>
  <p:notesViewPr>
    <p:cSldViewPr snapToGrid="0" snapToObjects="1">
      <p:cViewPr varScale="1">
        <p:scale>
          <a:sx n="72" d="100"/>
          <a:sy n="72" d="100"/>
        </p:scale>
        <p:origin x="4872"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209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2-hour slot. Doc: 2026 SAFE draft. Values match the Sept 13 knit (post net-mensuration correction).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summary in the SAFE-summary-slides format. Risk scores: assessment 1, popdyn 2 (low preferred males), ecosystem 1, fishery 1. ABC rises despite lower OFL because the buffer moved 40% to 20%.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allocations leave ~15 min for discussion.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Overfished determination for 2024/25 was made in Oct 2025 under Tier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Catches are the SSC-reported values; our ADF&amp;G data give 2.15 kt for 2024/25 vs 2.10 in the SSC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Categorized responses; full text in Section B of the document.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morphometric direction is the most consequential; we keep the preferred-male caution visible throughout.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arrived Sep 11-12; full model set, jitters and retrospectives rerun on the corrected series.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asymmetry is the heart of the buffer and risk-table discussion later.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OFL/large-male = 16.98/23.0 = 74%; OFL/preferred = 16.98/15.88 = 107%.</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rows verified against Table 11 of the Sept 13 knit; linear-eqn column is the ramped-F linear OFL.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rows verified against Table 23 of the Sept 13 knit. 25.3/26.1/26.1a are pre-correction by design.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focused convergence analysis the June 2026 SSC requested.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broadly similar across models; largest misfits in non-directed fishery comps.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Main-text depth per plan; Appendix B backup slides available if the CPT wants the experiment detail.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 raised the buffer as the CPT-side response to the correction. Our position: 20%; open to discussion. 2026 ogive, 47% of males at 77.5 mm and 71% at 97.5 mm are already terminally molted. Abundance does not account for selectivity/availability.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Current-year popdyn raised to Level 2 by the authors; the ESP/ESR summary scored it Level 1. Ecosystem/fishery cells from the Sept 2026 ESP-ESR summary.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deck/assets/titlebg-2.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2926080" y="2103120"/>
            <a:ext cx="8869680" cy="173736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The 2026 assessment for</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eastern Bering Sea snow crab</a:t>
            </a:r>
            <a:endParaRPr lang="en-US" sz="3800" dirty="0"/>
          </a:p>
        </p:txBody>
      </p:sp>
      <p:sp>
        <p:nvSpPr>
          <p:cNvPr id="4" name="Text 1"/>
          <p:cNvSpPr txBox="1"/>
          <p:nvPr/>
        </p:nvSpPr>
        <p:spPr>
          <a:xfrm>
            <a:off x="2926080" y="3977640"/>
            <a:ext cx="8869680" cy="457200"/>
          </a:xfrm>
          <a:prstGeom prst="rect">
            <a:avLst/>
          </a:prstGeom>
          <a:noFill/>
          <a:ln/>
        </p:spPr>
        <p:txBody>
          <a:bodyPr wrap="square" lIns="0" tIns="0" rIns="0" bIns="0" rtlCol="0" anchor="ctr"/>
          <a:lstStyle/>
          <a:p>
            <a:pPr marL="0" indent="0">
              <a:buNone/>
            </a:pPr>
            <a:r>
              <a:rPr lang="en-US" sz="2200" dirty="0">
                <a:solidFill>
                  <a:srgbClr val="CCE7EA"/>
                </a:solidFill>
                <a:latin typeface="Calibri" pitchFamily="34" charset="0"/>
                <a:ea typeface="Calibri" pitchFamily="34" charset="-122"/>
                <a:cs typeface="Calibri" pitchFamily="34" charset="-120"/>
              </a:rPr>
              <a:t>Grant Adams and Cody Szuwalski  |  Alaska Fisheries Science Center</a:t>
            </a:r>
            <a:endParaRPr lang="en-US" sz="2200" dirty="0"/>
          </a:p>
        </p:txBody>
      </p:sp>
      <p:sp>
        <p:nvSpPr>
          <p:cNvPr id="5" name="Text 2"/>
          <p:cNvSpPr txBox="1"/>
          <p:nvPr/>
        </p:nvSpPr>
        <p:spPr>
          <a:xfrm>
            <a:off x="2926080" y="4480560"/>
            <a:ext cx="8869680" cy="457200"/>
          </a:xfrm>
          <a:prstGeom prst="rect">
            <a:avLst/>
          </a:prstGeom>
          <a:noFill/>
          <a:ln/>
        </p:spPr>
        <p:txBody>
          <a:bodyPr wrap="square" lIns="0" tIns="0" rIns="0" bIns="0" rtlCol="0" anchor="ctr"/>
          <a:lstStyle/>
          <a:p>
            <a:pPr marL="0" indent="0">
              <a:buNone/>
            </a:pPr>
            <a:r>
              <a:rPr lang="en-US" sz="2000" dirty="0">
                <a:solidFill>
                  <a:srgbClr val="CCE7EA"/>
                </a:solidFill>
                <a:latin typeface="Calibri" pitchFamily="34" charset="0"/>
                <a:ea typeface="Calibri" pitchFamily="34" charset="-122"/>
                <a:cs typeface="Calibri" pitchFamily="34" charset="-120"/>
              </a:rPr>
              <a:t>Crab Plan Team  |  September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r>
              <a:rPr lang="en-US" sz="2600" b="1" dirty="0">
                <a:solidFill>
                  <a:srgbClr val="008998"/>
                </a:solidFill>
                <a:latin typeface="Calibri" pitchFamily="34" charset="0"/>
                <a:ea typeface="Calibri" pitchFamily="34" charset="-122"/>
                <a:cs typeface="Calibri" pitchFamily="34" charset="-120"/>
              </a:rPr>
              <a:t>Tier 4  |  Not overfished  | No overfishing  | Not Rebuilt </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a:t>
            </a:r>
            <a:endParaRPr lang="en-US" sz="800" dirty="0"/>
          </a:p>
        </p:txBody>
      </p:sp>
      <p:sp>
        <p:nvSpPr>
          <p:cNvPr id="7" name="Text 4"/>
          <p:cNvSpPr txBox="1"/>
          <p:nvPr/>
        </p:nvSpPr>
        <p:spPr>
          <a:xfrm>
            <a:off x="411480" y="868680"/>
            <a:ext cx="6583680" cy="5394960"/>
          </a:xfrm>
          <a:prstGeom prst="rect">
            <a:avLst/>
          </a:prstGeom>
          <a:noFill/>
          <a:ln/>
        </p:spPr>
        <p:txBody>
          <a:bodyPr wrap="square" rtlCol="0" anchor="t"/>
          <a:lstStyle/>
          <a:p>
            <a:pPr marL="0" indent="0">
              <a:spcAft>
                <a:spcPts val="400"/>
              </a:spcAft>
              <a:buNone/>
            </a:pPr>
            <a:r>
              <a:rPr lang="en-US" sz="1850" b="1" dirty="0">
                <a:solidFill>
                  <a:srgbClr val="07346B"/>
                </a:solidFill>
                <a:latin typeface="Calibri" pitchFamily="34" charset="0"/>
                <a:ea typeface="Calibri" pitchFamily="34" charset="-122"/>
                <a:cs typeface="Calibri" pitchFamily="34" charset="-120"/>
              </a:rPr>
              <a:t>Model summary</a:t>
            </a:r>
            <a:endParaRPr lang="en-US" sz="1850" dirty="0"/>
          </a:p>
          <a:p>
            <a:pPr marL="342900" indent="-342900">
              <a:spcAft>
                <a:spcPts val="400"/>
              </a:spcAft>
              <a:buSzPct val="100000"/>
              <a:buChar char="•"/>
            </a:pPr>
            <a:r>
              <a:rPr lang="en-US" sz="1550" dirty="0">
                <a:solidFill>
                  <a:srgbClr val="000000"/>
                </a:solidFill>
                <a:latin typeface="Calibri" pitchFamily="34" charset="0"/>
                <a:ea typeface="Calibri" pitchFamily="34" charset="-122"/>
                <a:cs typeface="Calibri" pitchFamily="34" charset="-120"/>
              </a:rPr>
              <a:t>Model: Tier 4 random-effects (REMA) model fit to morphometrically mature male biomass, ramped crab-FMP control rule, Baranov catch equation</a:t>
            </a:r>
            <a:endParaRPr lang="en-US" sz="1850" dirty="0"/>
          </a:p>
          <a:p>
            <a:pPr marL="342900" indent="-342900">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Alternatives: 6 Tier 3 GMACS models (25.3, 26.1, 26.1a, 26.1b, 26.1c, 26.2) presented to document convergence progress. None proposed for specification</a:t>
            </a:r>
            <a:endParaRPr lang="en-US" sz="1850" dirty="0"/>
          </a:p>
          <a:p>
            <a:pPr marL="0" indent="0">
              <a:spcAft>
                <a:spcPts val="400"/>
              </a:spcAft>
              <a:buNone/>
            </a:pPr>
            <a:r>
              <a:rPr lang="en-US" sz="1850" b="1" dirty="0">
                <a:solidFill>
                  <a:srgbClr val="07346B"/>
                </a:solidFill>
                <a:latin typeface="Calibri" pitchFamily="34" charset="0"/>
                <a:ea typeface="Calibri" pitchFamily="34" charset="-122"/>
                <a:cs typeface="Calibri" pitchFamily="34" charset="-120"/>
              </a:rPr>
              <a:t>New data</a:t>
            </a:r>
            <a:endParaRPr lang="en-US" sz="1850" dirty="0"/>
          </a:p>
          <a:p>
            <a:pPr marL="342900" indent="-342900">
              <a:spcAft>
                <a:spcPts val="400"/>
              </a:spcAft>
              <a:buSzPct val="100000"/>
              <a:buChar char="•"/>
            </a:pPr>
            <a:r>
              <a:rPr lang="en-US" sz="1550" dirty="0">
                <a:solidFill>
                  <a:srgbClr val="000000"/>
                </a:solidFill>
                <a:latin typeface="Calibri" pitchFamily="34" charset="0"/>
                <a:ea typeface="Calibri" pitchFamily="34" charset="-122"/>
                <a:cs typeface="Calibri" pitchFamily="34" charset="-120"/>
              </a:rPr>
              <a:t>Catch: 2025/26 directed fishery (4.13 kt retained) and bycatch</a:t>
            </a:r>
            <a:endParaRPr lang="en-US" sz="1850" dirty="0"/>
          </a:p>
          <a:p>
            <a:pPr marL="342900" indent="-342900">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Survey: 2026 NMFS summer trawl survey, net-mensuration corrected</a:t>
            </a:r>
            <a:endParaRPr lang="en-US" sz="1850" dirty="0"/>
          </a:p>
          <a:p>
            <a:pPr marL="0" indent="0">
              <a:spcAft>
                <a:spcPts val="400"/>
              </a:spcAft>
              <a:buNone/>
            </a:pPr>
            <a:r>
              <a:rPr lang="en-US" sz="1850" b="1" dirty="0">
                <a:solidFill>
                  <a:srgbClr val="07346B"/>
                </a:solidFill>
                <a:latin typeface="Calibri" pitchFamily="34" charset="0"/>
                <a:ea typeface="Calibri" pitchFamily="34" charset="-122"/>
                <a:cs typeface="Calibri" pitchFamily="34" charset="-120"/>
              </a:rPr>
              <a:t>Notes</a:t>
            </a:r>
            <a:endParaRPr lang="en-US" sz="1850" dirty="0"/>
          </a:p>
          <a:p>
            <a:pPr marL="342900" indent="-342900">
              <a:spcAft>
                <a:spcPts val="400"/>
              </a:spcAft>
              <a:buSzPct val="100000"/>
              <a:buChar char="•"/>
            </a:pPr>
            <a:r>
              <a:rPr lang="en-US" sz="1550" dirty="0">
                <a:solidFill>
                  <a:srgbClr val="000000"/>
                </a:solidFill>
                <a:latin typeface="Calibri" pitchFamily="34" charset="0"/>
                <a:ea typeface="Calibri" pitchFamily="34" charset="-122"/>
                <a:cs typeface="Calibri" pitchFamily="34" charset="-120"/>
              </a:rPr>
              <a:t>Preferred males (&gt;101 mm) 4th lowest in 44-year series. Current-year population dynamics scored Level 2</a:t>
            </a:r>
            <a:endParaRPr lang="en-US" sz="1850" dirty="0"/>
          </a:p>
          <a:p>
            <a:pPr marL="342900" indent="-342900">
              <a:buSzPct val="100000"/>
              <a:buChar char="•"/>
            </a:pPr>
            <a:r>
              <a:rPr lang="en-US" sz="1550" dirty="0">
                <a:solidFill>
                  <a:srgbClr val="000000"/>
                </a:solidFill>
                <a:latin typeface="Calibri" pitchFamily="34" charset="0"/>
                <a:ea typeface="Calibri" pitchFamily="34" charset="-122"/>
                <a:cs typeface="Calibri" pitchFamily="34" charset="-120"/>
              </a:rPr>
              <a:t>Rebuilding plan (Amendment 53) in place. Not overfished, no overfishing, not rebuilt</a:t>
            </a:r>
            <a:endParaRPr lang="en-US" sz="1850" dirty="0"/>
          </a:p>
        </p:txBody>
      </p:sp>
      <p:sp>
        <p:nvSpPr>
          <p:cNvPr id="8" name="Shape 5"/>
          <p:cNvSpPr/>
          <p:nvPr/>
        </p:nvSpPr>
        <p:spPr>
          <a:xfrm>
            <a:off x="6967728" y="96012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9" name="Text 6"/>
          <p:cNvSpPr txBox="1"/>
          <p:nvPr/>
        </p:nvSpPr>
        <p:spPr>
          <a:xfrm>
            <a:off x="6967728" y="106984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16.98 kt</a:t>
            </a:r>
            <a:endParaRPr lang="en-US" sz="3200" dirty="0"/>
          </a:p>
        </p:txBody>
      </p:sp>
      <p:sp>
        <p:nvSpPr>
          <p:cNvPr id="10" name="Text 7"/>
          <p:cNvSpPr txBox="1"/>
          <p:nvPr/>
        </p:nvSpPr>
        <p:spPr>
          <a:xfrm>
            <a:off x="7059168" y="182880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Recommended OFL (2026/27)</a:t>
            </a:r>
            <a:endParaRPr lang="en-US" sz="1350" dirty="0"/>
          </a:p>
        </p:txBody>
      </p:sp>
      <p:sp>
        <p:nvSpPr>
          <p:cNvPr id="11" name="Shape 8"/>
          <p:cNvSpPr/>
          <p:nvPr/>
        </p:nvSpPr>
        <p:spPr>
          <a:xfrm>
            <a:off x="9528048" y="96012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2" name="Text 9"/>
          <p:cNvSpPr txBox="1"/>
          <p:nvPr/>
        </p:nvSpPr>
        <p:spPr>
          <a:xfrm>
            <a:off x="9528048" y="106984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13.58 kt</a:t>
            </a:r>
            <a:endParaRPr lang="en-US" sz="3200" dirty="0"/>
          </a:p>
        </p:txBody>
      </p:sp>
      <p:sp>
        <p:nvSpPr>
          <p:cNvPr id="13" name="Text 10"/>
          <p:cNvSpPr txBox="1"/>
          <p:nvPr/>
        </p:nvSpPr>
        <p:spPr>
          <a:xfrm>
            <a:off x="9619488" y="182880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Recommended ABC (20% buffer)</a:t>
            </a:r>
            <a:endParaRPr lang="en-US" sz="1350" dirty="0"/>
          </a:p>
        </p:txBody>
      </p:sp>
      <p:sp>
        <p:nvSpPr>
          <p:cNvPr id="14" name="Shape 11"/>
          <p:cNvSpPr/>
          <p:nvPr/>
        </p:nvSpPr>
        <p:spPr>
          <a:xfrm>
            <a:off x="6967728" y="251460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5" name="Text 12"/>
          <p:cNvSpPr txBox="1"/>
          <p:nvPr/>
        </p:nvSpPr>
        <p:spPr>
          <a:xfrm>
            <a:off x="6967728" y="262432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0.747</a:t>
            </a:r>
            <a:endParaRPr lang="en-US" sz="3200" dirty="0"/>
          </a:p>
        </p:txBody>
      </p:sp>
      <p:sp>
        <p:nvSpPr>
          <p:cNvPr id="16" name="Text 13"/>
          <p:cNvSpPr txBox="1"/>
          <p:nvPr/>
        </p:nvSpPr>
        <p:spPr>
          <a:xfrm>
            <a:off x="7059168" y="338328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Stock status (B / BMSY proxy)</a:t>
            </a:r>
            <a:endParaRPr lang="en-US" sz="1350" dirty="0"/>
          </a:p>
        </p:txBody>
      </p:sp>
      <p:sp>
        <p:nvSpPr>
          <p:cNvPr id="17" name="Shape 14"/>
          <p:cNvSpPr/>
          <p:nvPr/>
        </p:nvSpPr>
        <p:spPr>
          <a:xfrm>
            <a:off x="9528048" y="251460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8" name="Text 15"/>
          <p:cNvSpPr txBox="1"/>
          <p:nvPr/>
        </p:nvSpPr>
        <p:spPr>
          <a:xfrm>
            <a:off x="9528048" y="262432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109.30 kt</a:t>
            </a:r>
            <a:endParaRPr lang="en-US" sz="3200" dirty="0"/>
          </a:p>
        </p:txBody>
      </p:sp>
      <p:sp>
        <p:nvSpPr>
          <p:cNvPr id="19" name="Text 16"/>
          <p:cNvSpPr txBox="1"/>
          <p:nvPr/>
        </p:nvSpPr>
        <p:spPr>
          <a:xfrm>
            <a:off x="9619488" y="338328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Mature male biomass, 2026</a:t>
            </a:r>
            <a:endParaRPr lang="en-US" sz="1350" dirty="0"/>
          </a:p>
        </p:txBody>
      </p:sp>
      <p:sp>
        <p:nvSpPr>
          <p:cNvPr id="20" name="Shape 17"/>
          <p:cNvSpPr/>
          <p:nvPr/>
        </p:nvSpPr>
        <p:spPr>
          <a:xfrm>
            <a:off x="6967728" y="406908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21" name="Text 18"/>
          <p:cNvSpPr txBox="1"/>
          <p:nvPr/>
        </p:nvSpPr>
        <p:spPr>
          <a:xfrm>
            <a:off x="6967728" y="4178808"/>
            <a:ext cx="2487168" cy="777240"/>
          </a:xfrm>
          <a:prstGeom prst="rect">
            <a:avLst/>
          </a:prstGeom>
          <a:noFill/>
          <a:ln/>
        </p:spPr>
        <p:txBody>
          <a:bodyPr wrap="square" lIns="0" tIns="0" rIns="0" bIns="0" rtlCol="0" anchor="ctr"/>
          <a:lstStyle/>
          <a:p>
            <a:pPr marL="0" indent="0" algn="ctr">
              <a:buNone/>
            </a:pPr>
            <a:r>
              <a:rPr lang="en-US" sz="3200" b="1" dirty="0">
                <a:solidFill>
                  <a:srgbClr val="B33636"/>
                </a:solidFill>
                <a:latin typeface="Calibri" pitchFamily="34" charset="0"/>
                <a:ea typeface="Calibri" pitchFamily="34" charset="-122"/>
                <a:cs typeface="Calibri" pitchFamily="34" charset="-120"/>
              </a:rPr>
              <a:t>-16%</a:t>
            </a:r>
            <a:endParaRPr lang="en-US" sz="3200" dirty="0"/>
          </a:p>
        </p:txBody>
      </p:sp>
      <p:sp>
        <p:nvSpPr>
          <p:cNvPr id="22" name="Text 19"/>
          <p:cNvSpPr txBox="1"/>
          <p:nvPr/>
        </p:nvSpPr>
        <p:spPr>
          <a:xfrm>
            <a:off x="7059168" y="493776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OFL vs 2025/26 (20.11 kt)</a:t>
            </a:r>
            <a:endParaRPr lang="en-US" sz="1350" dirty="0"/>
          </a:p>
        </p:txBody>
      </p:sp>
      <p:sp>
        <p:nvSpPr>
          <p:cNvPr id="23" name="Shape 20"/>
          <p:cNvSpPr/>
          <p:nvPr/>
        </p:nvSpPr>
        <p:spPr>
          <a:xfrm>
            <a:off x="9528048" y="406908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24" name="Text 21"/>
          <p:cNvSpPr txBox="1"/>
          <p:nvPr/>
        </p:nvSpPr>
        <p:spPr>
          <a:xfrm>
            <a:off x="9528048" y="4178808"/>
            <a:ext cx="2487168" cy="777240"/>
          </a:xfrm>
          <a:prstGeom prst="rect">
            <a:avLst/>
          </a:prstGeom>
          <a:noFill/>
          <a:ln/>
        </p:spPr>
        <p:txBody>
          <a:bodyPr wrap="square" lIns="0" tIns="0" rIns="0" bIns="0" rtlCol="0" anchor="ctr"/>
          <a:lstStyle/>
          <a:p>
            <a:pPr marL="0" indent="0" algn="ctr">
              <a:buNone/>
            </a:pPr>
            <a:r>
              <a:rPr lang="en-US" sz="3200" b="1" dirty="0">
                <a:solidFill>
                  <a:srgbClr val="B33636"/>
                </a:solidFill>
                <a:latin typeface="Calibri" pitchFamily="34" charset="0"/>
                <a:ea typeface="Calibri" pitchFamily="34" charset="-122"/>
                <a:cs typeface="Calibri" pitchFamily="34" charset="-120"/>
              </a:rPr>
              <a:t>+13%</a:t>
            </a:r>
            <a:endParaRPr lang="en-US" sz="3200" dirty="0"/>
          </a:p>
        </p:txBody>
      </p:sp>
      <p:sp>
        <p:nvSpPr>
          <p:cNvPr id="25" name="Text 22"/>
          <p:cNvSpPr txBox="1"/>
          <p:nvPr/>
        </p:nvSpPr>
        <p:spPr>
          <a:xfrm>
            <a:off x="9619488" y="493776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ABC vs 2025/26 (12.07 kt)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Outline</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a:t>
            </a:r>
            <a:endParaRPr lang="en-US" sz="800" dirty="0"/>
          </a:p>
        </p:txBody>
      </p:sp>
      <p:sp>
        <p:nvSpPr>
          <p:cNvPr id="7" name="Text 4"/>
          <p:cNvSpPr txBox="1"/>
          <p:nvPr/>
        </p:nvSpPr>
        <p:spPr>
          <a:xfrm>
            <a:off x="411480" y="914400"/>
            <a:ext cx="10515600" cy="5394960"/>
          </a:xfrm>
          <a:prstGeom prst="rect">
            <a:avLst/>
          </a:prstGeom>
          <a:noFill/>
          <a:ln/>
        </p:spPr>
        <p:txBody>
          <a:bodyPr wrap="square" rtlCol="0" anchor="t"/>
          <a:lstStyle/>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Management context and 2025/26 performance (10 min)</a:t>
            </a:r>
            <a:endParaRPr lang="en-US" sz="1950" dirty="0"/>
          </a:p>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Responses to SSC and CPT comments (10 min)</a:t>
            </a:r>
            <a:endParaRPr lang="en-US" sz="1950" dirty="0"/>
          </a:p>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Data: 2026 survey, net-mensuration correction, input corrections (15 min)</a:t>
            </a:r>
            <a:endParaRPr lang="en-US" sz="1950" dirty="0"/>
          </a:p>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Management currency (10 min)</a:t>
            </a:r>
            <a:endParaRPr lang="en-US" sz="1950" dirty="0"/>
          </a:p>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Tier 4 assessment and 2026/27 specification (20 min)</a:t>
            </a:r>
            <a:endParaRPr lang="en-US" sz="1950" dirty="0"/>
          </a:p>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Tier 3 models: convergence, retrospectives, male-only updates (30 min)</a:t>
            </a:r>
            <a:endParaRPr lang="en-US" sz="1950" dirty="0"/>
          </a:p>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ABC buffer and risk table (10 min)</a:t>
            </a:r>
            <a:endParaRPr lang="en-US" sz="1950" dirty="0"/>
          </a:p>
          <a:p>
            <a:pPr marL="152400" indent="-152400" algn="l">
              <a:spcAft>
                <a:spcPts val="1200"/>
              </a:spcAft>
              <a:buSzPct val="100000"/>
              <a:buChar char="•"/>
            </a:pPr>
            <a:r>
              <a:rPr lang="en-US" sz="1950" dirty="0">
                <a:solidFill>
                  <a:srgbClr val="1A1A1A"/>
                </a:solidFill>
                <a:latin typeface="Calibri" pitchFamily="34" charset="0"/>
                <a:ea typeface="Calibri" pitchFamily="34" charset="-122"/>
                <a:cs typeface="Calibri" pitchFamily="34" charset="-120"/>
              </a:rPr>
              <a:t>Rebuilding status and next steps for the January 2027 workshop (10 min)</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Management context</a:t>
            </a:r>
            <a:endParaRPr lang="en-US" sz="4000" dirty="0"/>
          </a:p>
        </p:txBody>
      </p:sp>
      <p:sp>
        <p:nvSpPr>
          <p:cNvPr id="4" name="Text 1"/>
          <p:cNvSpPr txBox="1"/>
          <p:nvPr/>
        </p:nvSpPr>
        <p:spPr>
          <a:xfrm>
            <a:off x="822960" y="3520440"/>
            <a:ext cx="10515600" cy="731520"/>
          </a:xfrm>
          <a:prstGeom prst="rect">
            <a:avLst/>
          </a:prstGeom>
          <a:noFill/>
          <a:ln/>
        </p:spPr>
        <p:txBody>
          <a:bodyPr wrap="square" lIns="0" tIns="0" rIns="0" bIns="0" rtlCol="0" anchor="ctr"/>
          <a:lstStyle/>
          <a:p>
            <a:pPr marL="0" indent="0">
              <a:buNone/>
            </a:pPr>
            <a:r>
              <a:rPr lang="en-US" sz="2000" dirty="0">
                <a:solidFill>
                  <a:srgbClr val="CCE7EA"/>
                </a:solidFill>
                <a:latin typeface="Calibri" pitchFamily="34" charset="0"/>
                <a:ea typeface="Calibri" pitchFamily="34" charset="-122"/>
                <a:cs typeface="Calibri" pitchFamily="34" charset="-120"/>
              </a:rPr>
              <a:t>Status, 2025/26 performance, and what changed this cycle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Stock status at a glance</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5</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3756689459"/>
              </p:ext>
            </p:extLst>
          </p:nvPr>
        </p:nvGraphicFramePr>
        <p:xfrm>
          <a:off x="411480" y="960120"/>
          <a:ext cx="11338560" cy="2590800"/>
        </p:xfrm>
        <a:graphic>
          <a:graphicData uri="http://schemas.openxmlformats.org/drawingml/2006/table">
            <a:tbl>
              <a:tblPr/>
              <a:tblGrid>
                <a:gridCol w="3749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50292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Question</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Answer</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Basis</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Is the stock subject to overfishing?</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2025/26 total catch 7.10 kt vs OFL 20.11 kt</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Is the stock overfished?</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MMB 109.30 kt above MSST 73.14 kt across the whole 95% CI</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Is it approaching an overfished condition?</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Unknown</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No reliable projection: Tier 3 unstable, Tier 4 produces none</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Rebuilt?</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Below the BMSY proxy of 146.3 kt. Remains under the Amendment 53 rebuilding plan</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411480" y="4206240"/>
            <a:ext cx="1097280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Declared overfished October 2021. Directed fishery closed for 2022/23 and 2023/24</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Small fishery in 2024/25 (2.15 kt retained), larger in 2025/26 (4.13 kt)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Management performance, last 5 crab years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6</a:t>
            </a:r>
            <a:endParaRPr lang="en-US" sz="800" dirty="0"/>
          </a:p>
        </p:txBody>
      </p:sp>
      <p:graphicFrame>
        <p:nvGraphicFramePr>
          <p:cNvPr id="20" name="Table Mtg"/>
          <p:cNvGraphicFramePr>
            <a:graphicFrameLocks noGrp="1"/>
          </p:cNvGraphicFramePr>
          <p:nvPr>
            <p:extLst>
              <p:ext uri="{D42A27DB-BD31-4B8C-83A1-F6EECF244321}">
                <p14:modId xmlns:p14="http://schemas.microsoft.com/office/powerpoint/2010/main" val="1652003555"/>
              </p:ext>
            </p:extLst>
          </p:nvPr>
        </p:nvGraphicFramePr>
        <p:xfrm>
          <a:off x="411480" y="960120"/>
          <a:ext cx="11340000" cy="2954400"/>
        </p:xfrm>
        <a:graphic>
          <a:graphicData uri="http://schemas.openxmlformats.org/drawingml/2006/table">
            <a:tbl>
              <a:tblPr/>
              <a:tblGrid>
                <a:gridCol w="1186000">
                  <a:extLst>
                    <a:ext uri="{9D8B030D-6E8A-4147-A177-3AD203B41FA5}">
                      <a16:colId xmlns:a16="http://schemas.microsoft.com/office/drawing/2014/main" val="20000"/>
                    </a:ext>
                  </a:extLst>
                </a:gridCol>
                <a:gridCol w="500000">
                  <a:extLst>
                    <a:ext uri="{9D8B030D-6E8A-4147-A177-3AD203B41FA5}">
                      <a16:colId xmlns:a16="http://schemas.microsoft.com/office/drawing/2014/main" val="20001"/>
                    </a:ext>
                  </a:extLst>
                </a:gridCol>
                <a:gridCol w="1000000">
                  <a:extLst>
                    <a:ext uri="{9D8B030D-6E8A-4147-A177-3AD203B41FA5}">
                      <a16:colId xmlns:a16="http://schemas.microsoft.com/office/drawing/2014/main" val="20002"/>
                    </a:ext>
                  </a:extLst>
                </a:gridCol>
                <a:gridCol w="1020000">
                  <a:extLst>
                    <a:ext uri="{9D8B030D-6E8A-4147-A177-3AD203B41FA5}">
                      <a16:colId xmlns:a16="http://schemas.microsoft.com/office/drawing/2014/main" val="20003"/>
                    </a:ext>
                  </a:extLst>
                </a:gridCol>
                <a:gridCol w="1020000">
                  <a:extLst>
                    <a:ext uri="{9D8B030D-6E8A-4147-A177-3AD203B41FA5}">
                      <a16:colId xmlns:a16="http://schemas.microsoft.com/office/drawing/2014/main" val="20004"/>
                    </a:ext>
                  </a:extLst>
                </a:gridCol>
                <a:gridCol w="1374000">
                  <a:extLst>
                    <a:ext uri="{9D8B030D-6E8A-4147-A177-3AD203B41FA5}">
                      <a16:colId xmlns:a16="http://schemas.microsoft.com/office/drawing/2014/main" val="20005"/>
                    </a:ext>
                  </a:extLst>
                </a:gridCol>
                <a:gridCol w="980000">
                  <a:extLst>
                    <a:ext uri="{9D8B030D-6E8A-4147-A177-3AD203B41FA5}">
                      <a16:colId xmlns:a16="http://schemas.microsoft.com/office/drawing/2014/main" val="20006"/>
                    </a:ext>
                  </a:extLst>
                </a:gridCol>
                <a:gridCol w="980000">
                  <a:extLst>
                    <a:ext uri="{9D8B030D-6E8A-4147-A177-3AD203B41FA5}">
                      <a16:colId xmlns:a16="http://schemas.microsoft.com/office/drawing/2014/main" val="20007"/>
                    </a:ext>
                  </a:extLst>
                </a:gridCol>
                <a:gridCol w="980000">
                  <a:extLst>
                    <a:ext uri="{9D8B030D-6E8A-4147-A177-3AD203B41FA5}">
                      <a16:colId xmlns:a16="http://schemas.microsoft.com/office/drawing/2014/main" val="20008"/>
                    </a:ext>
                  </a:extLst>
                </a:gridCol>
                <a:gridCol w="1200000">
                  <a:extLst>
                    <a:ext uri="{9D8B030D-6E8A-4147-A177-3AD203B41FA5}">
                      <a16:colId xmlns:a16="http://schemas.microsoft.com/office/drawing/2014/main" val="20009"/>
                    </a:ext>
                  </a:extLst>
                </a:gridCol>
                <a:gridCol w="1100000">
                  <a:extLst>
                    <a:ext uri="{9D8B030D-6E8A-4147-A177-3AD203B41FA5}">
                      <a16:colId xmlns:a16="http://schemas.microsoft.com/office/drawing/2014/main" val="20010"/>
                    </a:ext>
                  </a:extLst>
                </a:gridCol>
              </a:tblGrid>
              <a:tr h="530352">
                <a:tc gridSpan="2">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gridSpan="4">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Stock status</a:t>
                      </a:r>
                      <a:endParaRPr lang="en-US" sz="1400" dirty="0"/>
                    </a:p>
                    <a:p>
                      <a:pPr marL="0" indent="0" algn="ctr">
                        <a:buNone/>
                      </a:pPr>
                      <a:r>
                        <a:rPr lang="en-US" sz="1050" i="1" dirty="0">
                          <a:solidFill>
                            <a:srgbClr val="CCE7EA"/>
                          </a:solidFill>
                          <a:latin typeface="Calibri" pitchFamily="34" charset="0"/>
                          <a:ea typeface="Calibri" pitchFamily="34" charset="-122"/>
                          <a:cs typeface="Calibri" pitchFamily="34" charset="-120"/>
                        </a:rPr>
                        <a:t>for that crab year</a:t>
                      </a:r>
                      <a:endParaRPr lang="en-US" sz="105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gridSpan="3">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Specification</a:t>
                      </a:r>
                      <a:endParaRPr lang="en-US" sz="1400" dirty="0"/>
                    </a:p>
                    <a:p>
                      <a:pPr marL="0" indent="0" algn="ctr">
                        <a:buNone/>
                      </a:pPr>
                      <a:r>
                        <a:rPr lang="en-US" sz="1050" i="1" dirty="0">
                          <a:solidFill>
                            <a:srgbClr val="CCE7EA"/>
                          </a:solidFill>
                          <a:latin typeface="Calibri" pitchFamily="34" charset="0"/>
                          <a:ea typeface="Calibri" pitchFamily="34" charset="-122"/>
                          <a:cs typeface="Calibri" pitchFamily="34" charset="-120"/>
                        </a:rPr>
                        <a:t>set the October before</a:t>
                      </a:r>
                      <a:endParaRPr lang="en-US" sz="105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gridSpan="2">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Catch</a:t>
                      </a:r>
                      <a:endParaRPr lang="en-US" sz="1400" dirty="0"/>
                    </a:p>
                    <a:p>
                      <a:pPr marL="0" indent="0" algn="ctr">
                        <a:buNone/>
                      </a:pPr>
                      <a:r>
                        <a:rPr lang="en-US" sz="1050" i="1" dirty="0">
                          <a:solidFill>
                            <a:srgbClr val="CCE7EA"/>
                          </a:solidFill>
                          <a:latin typeface="Calibri" pitchFamily="34" charset="0"/>
                          <a:ea typeface="Calibri" pitchFamily="34" charset="-122"/>
                          <a:cs typeface="Calibri" pitchFamily="34" charset="-120"/>
                        </a:rPr>
                        <a:t>as reported</a:t>
                      </a:r>
                      <a:endParaRPr lang="en-US" sz="105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extLst>
                  <a:ext uri="{0D108BD9-81ED-4DB2-BD59-A6C34878D82A}">
                    <a16:rowId xmlns:a16="http://schemas.microsoft.com/office/drawing/2014/main" val="10000"/>
                  </a:ext>
                </a:extLst>
              </a:tr>
              <a:tr h="38404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Crab year</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Tier</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MSST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BMSY</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MMB</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MMB/BMSY</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OFL</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ABC</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TAC</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Retained</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Total</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1"/>
                  </a:ext>
                </a:extLst>
              </a:tr>
              <a:tr h="34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2021/22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91.60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183.10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41.20*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0.225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7.50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5.60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2.50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2.50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3.60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2022/23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77.95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155.91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92.40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0.593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10.32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7.70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0.00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0.00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0.05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3"/>
                  </a:ext>
                </a:extLst>
              </a:tr>
              <a:tr h="34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2023/24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95.90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191.81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106.52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0.555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15.44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7.72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0.00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0.00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0.07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2024/25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71.40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142.79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60.08*</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0.421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19.60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6.86</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2.10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2.10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2.81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5"/>
                  </a:ext>
                </a:extLst>
              </a:tr>
              <a:tr h="34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2025/26</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73.14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146.29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109.30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0.747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20.11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12.07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4.22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4.13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7.10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2026/27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16.98</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13.58</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7"/>
                  </a:ext>
                </a:extLst>
              </a:tr>
            </a:tbl>
          </a:graphicData>
        </a:graphic>
      </p:graphicFrame>
      <p:sp>
        <p:nvSpPr>
          <p:cNvPr id="8" name="Text 4"/>
          <p:cNvSpPr txBox="1"/>
          <p:nvPr/>
        </p:nvSpPr>
        <p:spPr>
          <a:xfrm>
            <a:off x="411480" y="4020000"/>
            <a:ext cx="11155680" cy="2520000"/>
          </a:xfrm>
          <a:prstGeom prst="rect">
            <a:avLst/>
          </a:prstGeom>
          <a:noFill/>
          <a:ln/>
        </p:spPr>
        <p:txBody>
          <a:bodyPr wrap="square" rtlCol="0" anchor="t"/>
          <a:lstStyle/>
          <a:p>
            <a:pPr marL="152400" indent="-152400" algn="l">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 Determined overfished: MMB below MSST (MMB/BMSY below 0.5)</a:t>
            </a:r>
          </a:p>
          <a:p>
            <a:pPr marL="152400" indent="-152400" algn="l">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Status uses the BMSY proxy of the assessment that made the determination, so MSST is half the BMSY on the same row. The May 2026 CPT text pairs the previous assessment’s proxy with current MMB, giving 0.765 for 2025/26, which changes neither determination</a:t>
            </a:r>
            <a:endParaRPr lang="en-US" sz="1300" dirty="0"/>
          </a:p>
          <a:p>
            <a:pPr marL="152400" indent="-152400" algn="l">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Total catch (retained + discarded + bycatch) was below the OFL in all 5 completed years</a:t>
            </a:r>
            <a:endParaRPr lang="en-US" sz="1300" dirty="0"/>
          </a:p>
          <a:p>
            <a:pPr marL="152400" indent="-152400" algn="l">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Tier is the tier the stock was assessed under for that crab year’s specification, matching slide 7. For 2024/25 that is Tier 3, while the MSST and MMB shown come from the Tier 4 assessment of October 2025, as the SSC report footnotes on the same row</a:t>
            </a:r>
          </a:p>
          <a:p>
            <a:pPr marL="152400" indent="-152400" algn="l">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1,000 t. Values as adopted by the SSC, except the 2026/27 row, which is this assessment as proposed (TAC set by the State later)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Basis for the OFL and ABC, last 5 assessments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7</a:t>
            </a:r>
            <a:endParaRPr lang="en-US" sz="800" dirty="0"/>
          </a:p>
        </p:txBody>
      </p:sp>
      <p:graphicFrame>
        <p:nvGraphicFramePr>
          <p:cNvPr id="30" name="Table Basis"/>
          <p:cNvGraphicFramePr>
            <a:graphicFrameLocks noGrp="1"/>
          </p:cNvGraphicFramePr>
          <p:nvPr>
            <p:extLst>
              <p:ext uri="{D42A27DB-BD31-4B8C-83A1-F6EECF244321}">
                <p14:modId xmlns:p14="http://schemas.microsoft.com/office/powerpoint/2010/main" val="3598811503"/>
              </p:ext>
            </p:extLst>
          </p:nvPr>
        </p:nvGraphicFramePr>
        <p:xfrm>
          <a:off x="411480" y="893560"/>
          <a:ext cx="11338560" cy="2664400"/>
        </p:xfrm>
        <a:graphic>
          <a:graphicData uri="http://schemas.openxmlformats.org/drawingml/2006/table">
            <a:tbl>
              <a:tblPr/>
              <a:tblGrid>
                <a:gridCol w="1320000">
                  <a:extLst>
                    <a:ext uri="{9D8B030D-6E8A-4147-A177-3AD203B41FA5}">
                      <a16:colId xmlns:a16="http://schemas.microsoft.com/office/drawing/2014/main" val="20000"/>
                    </a:ext>
                  </a:extLst>
                </a:gridCol>
                <a:gridCol w="680000">
                  <a:extLst>
                    <a:ext uri="{9D8B030D-6E8A-4147-A177-3AD203B41FA5}">
                      <a16:colId xmlns:a16="http://schemas.microsoft.com/office/drawing/2014/main" val="20002"/>
                    </a:ext>
                  </a:extLst>
                </a:gridCol>
                <a:gridCol w="860000">
                  <a:extLst>
                    <a:ext uri="{9D8B030D-6E8A-4147-A177-3AD203B41FA5}">
                      <a16:colId xmlns:a16="http://schemas.microsoft.com/office/drawing/2014/main" val="20003"/>
                    </a:ext>
                  </a:extLst>
                </a:gridCol>
                <a:gridCol w="980000">
                  <a:extLst>
                    <a:ext uri="{9D8B030D-6E8A-4147-A177-3AD203B41FA5}">
                      <a16:colId xmlns:a16="http://schemas.microsoft.com/office/drawing/2014/main" val="20004"/>
                    </a:ext>
                  </a:extLst>
                </a:gridCol>
                <a:gridCol w="127856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230000">
                  <a:extLst>
                    <a:ext uri="{9D8B030D-6E8A-4147-A177-3AD203B41FA5}">
                      <a16:colId xmlns:a16="http://schemas.microsoft.com/office/drawing/2014/main" val="20007"/>
                    </a:ext>
                  </a:extLst>
                </a:gridCol>
                <a:gridCol w="910000">
                  <a:extLst>
                    <a:ext uri="{9D8B030D-6E8A-4147-A177-3AD203B41FA5}">
                      <a16:colId xmlns:a16="http://schemas.microsoft.com/office/drawing/2014/main" val="20008"/>
                    </a:ext>
                  </a:extLst>
                </a:gridCol>
                <a:gridCol w="960000">
                  <a:extLst>
                    <a:ext uri="{9D8B030D-6E8A-4147-A177-3AD203B41FA5}">
                      <a16:colId xmlns:a16="http://schemas.microsoft.com/office/drawing/2014/main" val="20009"/>
                    </a:ext>
                  </a:extLst>
                </a:gridCol>
                <a:gridCol w="940000">
                  <a:extLst>
                    <a:ext uri="{9D8B030D-6E8A-4147-A177-3AD203B41FA5}">
                      <a16:colId xmlns:a16="http://schemas.microsoft.com/office/drawing/2014/main" val="20010"/>
                    </a:ext>
                  </a:extLst>
                </a:gridCol>
                <a:gridCol w="1100000">
                  <a:extLst>
                    <a:ext uri="{9D8B030D-6E8A-4147-A177-3AD203B41FA5}">
                      <a16:colId xmlns:a16="http://schemas.microsoft.com/office/drawing/2014/main" val="20011"/>
                    </a:ext>
                  </a:extLst>
                </a:gridCol>
              </a:tblGrid>
              <a:tr h="530352">
                <a:tc gridSpan="2">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gridSpan="6">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Basis for the OFL</a:t>
                      </a:r>
                      <a:endParaRPr lang="en-US" sz="1400" dirty="0"/>
                    </a:p>
                    <a:p>
                      <a:pPr marL="0" indent="0" algn="ctr">
                        <a:buNone/>
                      </a:pPr>
                      <a:r>
                        <a:rPr lang="en-US" sz="1050" i="1" dirty="0">
                          <a:solidFill>
                            <a:srgbClr val="CCE7EA"/>
                          </a:solidFill>
                          <a:latin typeface="Calibri" pitchFamily="34" charset="0"/>
                          <a:ea typeface="Calibri" pitchFamily="34" charset="-122"/>
                          <a:cs typeface="Calibri" pitchFamily="34" charset="-120"/>
                        </a:rPr>
                        <a:t>as estimated in that assessment</a:t>
                      </a:r>
                      <a:endParaRPr lang="en-US" sz="105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gridSpan="3">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Specification</a:t>
                      </a:r>
                      <a:endParaRPr lang="en-US" sz="1400" dirty="0"/>
                    </a:p>
                    <a:p>
                      <a:pPr marL="0" indent="0" algn="ctr">
                        <a:buNone/>
                      </a:pPr>
                      <a:r>
                        <a:rPr lang="en-US" sz="1050" i="1" dirty="0">
                          <a:solidFill>
                            <a:srgbClr val="CCE7EA"/>
                          </a:solidFill>
                          <a:latin typeface="Calibri" pitchFamily="34" charset="0"/>
                          <a:ea typeface="Calibri" pitchFamily="34" charset="-122"/>
                          <a:cs typeface="Calibri" pitchFamily="34" charset="-120"/>
                        </a:rPr>
                        <a:t>For the next crab year</a:t>
                      </a:r>
                      <a:endParaRPr lang="en-US" sz="105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tc hMerge="1">
                  <a:txBody>
                    <a:bodyPr/>
                    <a:lstStyle/>
                    <a:p>
                      <a:pPr marL="0" indent="0" algn="ctr">
                        <a:buNone/>
                      </a:pP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7346B"/>
                    </a:solidFill>
                  </a:tcPr>
                </a:tc>
                <a:extLst>
                  <a:ext uri="{0D108BD9-81ED-4DB2-BD59-A6C34878D82A}">
                    <a16:rowId xmlns:a16="http://schemas.microsoft.com/office/drawing/2014/main" val="10000"/>
                  </a:ext>
                </a:extLst>
              </a:tr>
              <a:tr h="38404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Assessment</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Tier</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BMSY</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BMSY years</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MMB</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MMB/BMSY</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FOFL</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OFL</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Buffer</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ABC</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1"/>
                  </a:ext>
                </a:extLst>
              </a:tr>
              <a:tr h="35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Sept 2022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3b</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0.29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183.10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1982-2021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55.00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0.300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0.32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10.32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7.70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Sept 2023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3b</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0.29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155.91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1982-2022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65.77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0.422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14.96</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15.44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50%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7.72</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3"/>
                  </a:ext>
                </a:extLst>
              </a:tr>
              <a:tr h="35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Sept 2024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3b</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0.28</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191.81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1984-2023</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96.77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0.505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25.07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19.60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65%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6.86</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Sept 2025</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4b</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0.27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142.79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1982-2024</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105.21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0.737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0.19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20.11</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12.07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5"/>
                  </a:ext>
                </a:extLst>
              </a:tr>
              <a:tr h="350000">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Sept 2026</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4b</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0.27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146.29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1982-2026</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109.30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0.747</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0.19</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16.98</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20%</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A1A1A"/>
                          </a:solidFill>
                          <a:latin typeface="Calibri" pitchFamily="34" charset="0"/>
                          <a:ea typeface="Calibri" pitchFamily="34" charset="-122"/>
                          <a:cs typeface="Calibri" pitchFamily="34" charset="-120"/>
                        </a:rPr>
                        <a:t>13.58</a:t>
                      </a:r>
                      <a:endParaRPr lang="en-US" sz="1400" dirty="0"/>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411480" y="3720000"/>
            <a:ext cx="11155680" cy="2800000"/>
          </a:xfrm>
          <a:prstGeom prst="rect">
            <a:avLst/>
          </a:prstGeom>
          <a:noFill/>
          <a:ln/>
        </p:spPr>
        <p:txBody>
          <a:bodyPr wrap="square" rtlCol="0" anchor="t"/>
          <a:lstStyle/>
          <a:p>
            <a:pPr marL="152400" indent="-152400" algn="l">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MMB is the value that assessment used to set the OFL: under Tier 3 it is projected to the time of mating in the specification year, under Tier 4 it is the REMA survey-time estimate and is not projected</a:t>
            </a:r>
            <a:endParaRPr lang="en-US" sz="1200" dirty="0"/>
          </a:p>
          <a:p>
            <a:pPr marL="152400" indent="-152400" algn="l">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FOFL is the directed fishing mortality rate under the Tier 3 ramp, a fraction of F35%. F35% itself moved from 1.50 in the Sept 2022 assessment to 49.63 in Sept 2024, so the column is not comparable across rows. A large value is not a large removal: at FOFL 25.07 the OFL was still only 20% of MMB. The Tier 4 rows scale F to M instead</a:t>
            </a:r>
            <a:endParaRPr lang="en-US" sz="1200" dirty="0"/>
          </a:p>
          <a:p>
            <a:pPr marL="152400" indent="-152400" algn="l">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Buffer is the ABC buffer the SSC applied, as a percentage of the OFL (mean 41%). The proposed 20% for 2026/27 would be the smallest in the 5 years shown</a:t>
            </a:r>
            <a:endParaRPr lang="en-US" sz="1200" dirty="0"/>
          </a:p>
          <a:p>
            <a:pPr marL="152400" indent="-152400" algn="l">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Moved to Tier 4 for 2025/26 after the October 2025 SSC found Tier 3 convergence too severe for advice. 1,000 t, adopted values except the proposed 2026/27 row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Responses to SSC and CPT comments</a:t>
            </a:r>
            <a:endParaRPr lang="en-US" sz="4000" dirty="0"/>
          </a:p>
        </p:txBody>
      </p:sp>
      <p:sp>
        <p:nvSpPr>
          <p:cNvPr id="4" name="Text 1"/>
          <p:cNvSpPr txBox="1"/>
          <p:nvPr/>
        </p:nvSpPr>
        <p:spPr>
          <a:xfrm>
            <a:off x="822960" y="3520440"/>
            <a:ext cx="10515600" cy="731520"/>
          </a:xfrm>
          <a:prstGeom prst="rect">
            <a:avLst/>
          </a:prstGeom>
          <a:noFill/>
          <a:ln/>
        </p:spPr>
        <p:txBody>
          <a:bodyPr wrap="square" lIns="0" tIns="0" rIns="0" bIns="0" rtlCol="0" anchor="ctr"/>
          <a:lstStyle/>
          <a:p>
            <a:pPr marL="0" indent="0">
              <a:buNone/>
            </a:pPr>
            <a:r>
              <a:rPr lang="en-US" sz="2000" dirty="0">
                <a:solidFill>
                  <a:srgbClr val="CCE7EA"/>
                </a:solidFill>
                <a:latin typeface="Calibri" pitchFamily="34" charset="0"/>
                <a:ea typeface="Calibri" pitchFamily="34" charset="-122"/>
                <a:cs typeface="Calibri" pitchFamily="34" charset="-120"/>
              </a:rPr>
              <a:t>June 2026 and October 2025 SSC, May 2026 and September 2025 CPT, grouped by theme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SSC comments: model scope and convergence</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9</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966422340"/>
              </p:ext>
            </p:extLst>
          </p:nvPr>
        </p:nvGraphicFramePr>
        <p:xfrm>
          <a:off x="411480" y="960120"/>
          <a:ext cx="11338560" cy="4142232"/>
        </p:xfrm>
        <a:graphic>
          <a:graphicData uri="http://schemas.openxmlformats.org/drawingml/2006/table">
            <a:tbl>
              <a:tblPr/>
              <a:tblGrid>
                <a:gridCol w="54864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65836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Request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Response</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Bring only the Tier 4 model forward in October (June 2026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Done. OFL and ABC are calculated under Tier 4. 6 Tier 3 models shown only to document progress</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Strip the model to a minimal parameter set, then add complexity back (June 2026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Started. Model 26.2 (male-only) cuts parameters 412 to 234. Staged simplification is the next step</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Immature survey index is not a convergence fix by itself (June 2026 SSC + CPT)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Agreed. Not included in any model presented</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Focused convergence section identifying which parameters separate minima (June 2026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Partially addressed. Selectivity dominates jitter spread (11 of the top 15): it is confounded with growth and M, producing near-flat likelihood with separate minima. By parameter type: female and sex-allocation parameters account for 64% of movement (sex allocation alone 24%), so the minima disagree about the female population rather than the males the assessment manages.</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SSC comments: data and model inputs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10</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11338560" cy="3291840"/>
        </p:xfrm>
        <a:graphic>
          <a:graphicData uri="http://schemas.openxmlformats.org/drawingml/2006/table">
            <a:tbl>
              <a:tblPr/>
              <a:tblGrid>
                <a:gridCol w="54864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65836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Request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Response</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Bring forward the composition correction and expanded plus group (June 2026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Included in every model from Model 26.1 onward</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Evaluate hybrid Chionoecetes data (May 2026 CPT)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Evaluated in May and excluded from all models per CPT and SSC advice. Tracked in the risk table</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Use likelihood profiles to describe uncertainty (Oct 2025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Deferred until a stable, converged model exists. Jitter analysis stands in</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Explore male-female recruitment differences vs molt-increment fit (Oct 2025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Not undertaken. Recruitment is one total split by an estimated sex allocation, so the series are not independent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SSC comments: maturity definition and Tier 4</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668207747"/>
              </p:ext>
            </p:extLst>
          </p:nvPr>
        </p:nvGraphicFramePr>
        <p:xfrm>
          <a:off x="411480" y="960120"/>
          <a:ext cx="11338560" cy="3669792"/>
        </p:xfrm>
        <a:graphic>
          <a:graphicData uri="http://schemas.openxmlformats.org/drawingml/2006/table">
            <a:tbl>
              <a:tblPr/>
              <a:tblGrid>
                <a:gridCol w="54864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658368">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Request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Response</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Retain morphometric maturity as the basis (Oct 2025 SSC, reaffirming 2024)</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Followed. Morphometric MMB is the recommended definition, with &gt;=95 mm and &gt;101 mm reported alongside. Caveated for scale: the OFL is 107% and the ABC 86% of the 2026 preferred-male (&gt;101 mm) survey biomass of 15.88 kt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Full Tier 4 implementation requires a harvest control rule (Oct 2025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Done. The ramped crab-FMP rule is applied, with the Baranov catch equation. The flat rule is shown as a sensitivity</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Report a stock-specific history of ABC buffers (June 2026 SSC)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Done. 5-year buffer history tabulated.</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Report uncertainty in the biomass the control rule acts on (guidelines)</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Done. REMA 95% CI on terminal biomass: 81.9 to 145.9 kt (CV 14.8%)</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Data</a:t>
            </a:r>
            <a:endParaRPr lang="en-US" sz="4000" dirty="0"/>
          </a:p>
        </p:txBody>
      </p:sp>
      <p:sp>
        <p:nvSpPr>
          <p:cNvPr id="4" name="Text 1"/>
          <p:cNvSpPr txBox="1"/>
          <p:nvPr/>
        </p:nvSpPr>
        <p:spPr>
          <a:xfrm>
            <a:off x="822960" y="3520440"/>
            <a:ext cx="10515600" cy="731520"/>
          </a:xfrm>
          <a:prstGeom prst="rect">
            <a:avLst/>
          </a:prstGeom>
          <a:noFill/>
          <a:ln/>
        </p:spPr>
        <p:txBody>
          <a:bodyPr wrap="square" lIns="0" tIns="0" rIns="0" bIns="0" rtlCol="0" anchor="ctr"/>
          <a:lstStyle/>
          <a:p>
            <a:pPr marL="0" indent="0">
              <a:buNone/>
            </a:pPr>
            <a:r>
              <a:rPr lang="en-US" sz="2000" dirty="0">
                <a:solidFill>
                  <a:srgbClr val="CCE7EA"/>
                </a:solidFill>
                <a:latin typeface="Calibri" pitchFamily="34" charset="0"/>
                <a:ea typeface="Calibri" pitchFamily="34" charset="-122"/>
                <a:cs typeface="Calibri" pitchFamily="34" charset="-120"/>
              </a:rPr>
              <a:t>2026 survey, the net-mensuration correction, and input corrections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New data this cycle</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13</a:t>
            </a:r>
            <a:endParaRPr lang="en-US" sz="800" dirty="0"/>
          </a:p>
        </p:txBody>
      </p:sp>
      <p:sp>
        <p:nvSpPr>
          <p:cNvPr id="7" name="Text 4"/>
          <p:cNvSpPr txBox="1"/>
          <p:nvPr/>
        </p:nvSpPr>
        <p:spPr>
          <a:xfrm>
            <a:off x="411480" y="914400"/>
            <a:ext cx="11338560" cy="5394960"/>
          </a:xfrm>
          <a:prstGeom prst="rect">
            <a:avLst/>
          </a:prstGeom>
          <a:noFill/>
          <a:ln/>
        </p:spPr>
        <p:txBody>
          <a:bodyPr wrap="square" rtlCol="0" anchor="t"/>
          <a:lstStyle/>
          <a:p>
            <a:pPr marL="152400" indent="-152400" algn="l">
              <a:spcAft>
                <a:spcPts val="600"/>
              </a:spcAft>
              <a:buSzPct val="100000"/>
              <a:buChar char="•"/>
            </a:pPr>
            <a:r>
              <a:rPr lang="en-US" sz="1750" dirty="0">
                <a:solidFill>
                  <a:srgbClr val="1A1A1A"/>
                </a:solidFill>
                <a:latin typeface="Calibri" pitchFamily="34" charset="0"/>
                <a:ea typeface="Calibri" pitchFamily="34" charset="-122"/>
                <a:cs typeface="Calibri" pitchFamily="34" charset="-120"/>
              </a:rPr>
              <a:t>2026 NMFS summer trawl survey (indices and size compositions), 2025/26 directed fishery catch and compositions (ADF&amp;G), and bycatch from NORPAC</a:t>
            </a:r>
            <a:endParaRPr lang="en-US" sz="1750" dirty="0"/>
          </a:p>
          <a:p>
            <a:pPr marL="152400" indent="-152400" algn="l">
              <a:spcAft>
                <a:spcPts val="600"/>
              </a:spcAft>
              <a:buSzPct val="100000"/>
              <a:buChar char="•"/>
            </a:pPr>
            <a:r>
              <a:rPr lang="en-US" sz="1750" dirty="0">
                <a:solidFill>
                  <a:srgbClr val="1A1A1A"/>
                </a:solidFill>
                <a:latin typeface="Calibri" pitchFamily="34" charset="0"/>
                <a:ea typeface="Calibri" pitchFamily="34" charset="-122"/>
                <a:cs typeface="Calibri" pitchFamily="34" charset="-120"/>
              </a:rPr>
              <a:t>Corrected survey specimen data came directly from the Shellfish Assessment Program. The crabpack package did not yet include the correction</a:t>
            </a:r>
            <a:endParaRPr lang="en-US" sz="1750" dirty="0"/>
          </a:p>
          <a:p>
            <a:pPr marL="152400" indent="-152400" algn="l">
              <a:spcAft>
                <a:spcPts val="600"/>
              </a:spcAft>
              <a:buSzPct val="100000"/>
              <a:buChar char="•"/>
            </a:pPr>
            <a:r>
              <a:rPr lang="en-US" sz="1750" dirty="0">
                <a:solidFill>
                  <a:srgbClr val="1A1A1A"/>
                </a:solidFill>
                <a:latin typeface="Calibri" pitchFamily="34" charset="0"/>
                <a:ea typeface="Calibri" pitchFamily="34" charset="-122"/>
                <a:cs typeface="Calibri" pitchFamily="34" charset="-120"/>
              </a:rPr>
              <a:t>Maturity ogives regenerated from the corrected specimen data (Kodiak workflow)</a:t>
            </a:r>
            <a:endParaRPr lang="en-US" sz="1750" dirty="0"/>
          </a:p>
        </p:txBody>
      </p:sp>
      <p:pic>
        <p:nvPicPr>
          <p:cNvPr id="8" name="Image 1" descr="/tmp/deck/media/indexdata.png"/>
          <p:cNvPicPr>
            <a:picLocks noChangeAspect="1"/>
          </p:cNvPicPr>
          <p:nvPr/>
        </p:nvPicPr>
        <p:blipFill>
          <a:blip r:embed="rId4"/>
          <a:stretch>
            <a:fillRect/>
          </a:stretch>
        </p:blipFill>
        <p:spPr>
          <a:xfrm>
            <a:off x="411480" y="2620000"/>
            <a:ext cx="11338560" cy="3401590"/>
          </a:xfrm>
          <a:prstGeom prst="rect">
            <a:avLst/>
          </a:prstGeom>
        </p:spPr>
      </p:pic>
      <p:sp>
        <p:nvSpPr>
          <p:cNvPr id="9" name="Text 5"/>
          <p:cNvSpPr txBox="1"/>
          <p:nvPr/>
        </p:nvSpPr>
        <p:spPr>
          <a:xfrm>
            <a:off x="2286000" y="6080000"/>
            <a:ext cx="758952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Index data used in the assessment.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Net-mensuration correction (September 10)</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14</a:t>
            </a:r>
            <a:endParaRPr lang="en-US" sz="800" dirty="0"/>
          </a:p>
        </p:txBody>
      </p:sp>
      <p:sp>
        <p:nvSpPr>
          <p:cNvPr id="7" name="Text 4"/>
          <p:cNvSpPr txBox="1"/>
          <p:nvPr/>
        </p:nvSpPr>
        <p:spPr>
          <a:xfrm>
            <a:off x="411480" y="914400"/>
            <a:ext cx="10881360" cy="5394960"/>
          </a:xfrm>
          <a:prstGeom prst="rect">
            <a:avLst/>
          </a:prstGeom>
          <a:noFill/>
          <a:ln/>
        </p:spPr>
        <p:txBody>
          <a:bodyPr wrap="square" rtlCol="0" anchor="t"/>
          <a:lstStyle/>
          <a:p>
            <a:pPr marL="152400" indent="-152400" algn="l">
              <a:spcAft>
                <a:spcPts val="900"/>
              </a:spcAft>
              <a:buSzPct val="100000"/>
              <a:buChar char="•"/>
            </a:pPr>
            <a:r>
              <a:rPr lang="en-US" sz="1800" dirty="0">
                <a:solidFill>
                  <a:srgbClr val="1A1A1A"/>
                </a:solidFill>
                <a:latin typeface="Calibri" pitchFamily="34" charset="0"/>
                <a:ea typeface="Calibri" pitchFamily="34" charset="-122"/>
                <a:cs typeface="Calibri" pitchFamily="34" charset="-120"/>
              </a:rPr>
              <a:t>Tanner crab CIE review found average net spread in the 2024-2025 surveys well below earlier years</a:t>
            </a:r>
            <a:endParaRPr lang="en-US" sz="1800" dirty="0"/>
          </a:p>
          <a:p>
            <a:pPr marL="152400" indent="-152400" algn="l">
              <a:spcAft>
                <a:spcPts val="900"/>
              </a:spcAft>
              <a:buSzPct val="100000"/>
              <a:buChar char="•"/>
            </a:pPr>
            <a:r>
              <a:rPr lang="en-US" sz="1800" dirty="0">
                <a:solidFill>
                  <a:srgbClr val="1A1A1A"/>
                </a:solidFill>
                <a:latin typeface="Calibri" pitchFamily="34" charset="0"/>
                <a:ea typeface="Calibri" pitchFamily="34" charset="-122"/>
                <a:cs typeface="Calibri" pitchFamily="34" charset="-120"/>
              </a:rPr>
              <a:t>Cause: the 2013 correction factor reconciling analog Marport to legacy Netmind sensors is inappropriate for the next-generation Marport sensors used since early 2024</a:t>
            </a:r>
            <a:endParaRPr lang="en-US" sz="1800" dirty="0"/>
          </a:p>
          <a:p>
            <a:pPr marL="152400" indent="-152400" algn="l">
              <a:spcAft>
                <a:spcPts val="900"/>
              </a:spcAft>
              <a:buSzPct val="100000"/>
              <a:buChar char="•"/>
            </a:pPr>
            <a:r>
              <a:rPr lang="en-US" sz="1800" dirty="0">
                <a:solidFill>
                  <a:srgbClr val="1A1A1A"/>
                </a:solidFill>
                <a:latin typeface="Calibri" pitchFamily="34" charset="0"/>
                <a:ea typeface="Calibri" pitchFamily="34" charset="-122"/>
                <a:cs typeface="Calibri" pitchFamily="34" charset="-120"/>
              </a:rPr>
              <a:t>Fix: correction factor removed and net spread recalculated for all hauls, 2024 to 2026 EBS surveys and 2025 NBS survey</a:t>
            </a:r>
            <a:endParaRPr lang="en-US" sz="1800" dirty="0"/>
          </a:p>
          <a:p>
            <a:pPr marL="152400" indent="-152400" algn="l">
              <a:spcAft>
                <a:spcPts val="900"/>
              </a:spcAft>
              <a:buSzPct val="100000"/>
              <a:buChar char="•"/>
            </a:pPr>
            <a:r>
              <a:rPr lang="en-US" sz="1800" dirty="0">
                <a:solidFill>
                  <a:srgbClr val="1A1A1A"/>
                </a:solidFill>
                <a:latin typeface="Calibri" pitchFamily="34" charset="0"/>
                <a:ea typeface="Calibri" pitchFamily="34" charset="-122"/>
                <a:cs typeface="Calibri" pitchFamily="34" charset="-120"/>
              </a:rPr>
              <a:t>Effect: spread values ~4% higher, so biomass and abundance ~4% lower in those years. Earlier years unchanged</a:t>
            </a:r>
            <a:endParaRPr lang="en-US" sz="1800" dirty="0"/>
          </a:p>
          <a:p>
            <a:pPr marL="152400" indent="-152400" algn="l">
              <a:spcAft>
                <a:spcPts val="900"/>
              </a:spcAft>
              <a:buSzPct val="100000"/>
              <a:buChar char="•"/>
            </a:pPr>
            <a:r>
              <a:rPr lang="en-US" sz="1800" b="1" dirty="0">
                <a:solidFill>
                  <a:srgbClr val="1A1A1A"/>
                </a:solidFill>
                <a:latin typeface="Calibri" pitchFamily="34" charset="0"/>
                <a:ea typeface="Calibri" pitchFamily="34" charset="-122"/>
                <a:cs typeface="Calibri" pitchFamily="34" charset="-120"/>
              </a:rPr>
              <a:t>Which models include it:</a:t>
            </a:r>
            <a:endParaRPr lang="en-US" sz="1800" dirty="0"/>
          </a:p>
          <a:p>
            <a:pPr marL="304800" lvl="1" indent="-152400" algn="l">
              <a:spcAft>
                <a:spcPts val="900"/>
              </a:spcAft>
              <a:buSzPct val="100000"/>
              <a:buChar char="•"/>
            </a:pPr>
            <a:r>
              <a:rPr lang="en-US" sz="1800" dirty="0">
                <a:solidFill>
                  <a:srgbClr val="1A1A1A"/>
                </a:solidFill>
                <a:latin typeface="Calibri" pitchFamily="34" charset="0"/>
                <a:ea typeface="Calibri" pitchFamily="34" charset="-122"/>
                <a:cs typeface="Calibri" pitchFamily="34" charset="-120"/>
              </a:rPr>
              <a:t>Corrected: Tier 4 model, Model 26.1b, Model 26.2, Appendix B experiments</a:t>
            </a:r>
            <a:endParaRPr lang="en-US" sz="1800" dirty="0"/>
          </a:p>
          <a:p>
            <a:pPr marL="304800" lvl="1" indent="-152400" algn="l">
              <a:spcAft>
                <a:spcPts val="900"/>
              </a:spcAft>
              <a:buSzPct val="100000"/>
              <a:buChar char="•"/>
            </a:pPr>
            <a:r>
              <a:rPr lang="en-US" sz="1800" dirty="0">
                <a:solidFill>
                  <a:srgbClr val="1A1A1A"/>
                </a:solidFill>
                <a:latin typeface="Calibri" pitchFamily="34" charset="0"/>
                <a:ea typeface="Calibri" pitchFamily="34" charset="-122"/>
                <a:cs typeface="Calibri" pitchFamily="34" charset="-120"/>
              </a:rPr>
              <a:t>As used in May (uncorrected): Model 25.3, Model 26.1, Model 26.1a, whose data end in 2024</a:t>
            </a:r>
            <a:endParaRPr lang="en-US" sz="1800" dirty="0"/>
          </a:p>
          <a:p>
            <a:pPr marL="304800" lvl="1" indent="-152400" algn="l">
              <a:spcAft>
                <a:spcPts val="900"/>
              </a:spcAft>
              <a:buSzPct val="100000"/>
              <a:buChar char="•"/>
            </a:pPr>
            <a:r>
              <a:rPr lang="en-US" sz="1800" dirty="0">
                <a:solidFill>
                  <a:srgbClr val="1A1A1A"/>
                </a:solidFill>
                <a:latin typeface="Calibri" pitchFamily="34" charset="0"/>
                <a:ea typeface="Calibri" pitchFamily="34" charset="-122"/>
                <a:cs typeface="Calibri" pitchFamily="34" charset="-120"/>
              </a:rPr>
              <a:t>The 26.1a to 26.1b step includes the correction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Author corrections to input data (4)</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15</a:t>
            </a:r>
            <a:endParaRPr lang="en-US" sz="800" dirty="0"/>
          </a:p>
        </p:txBody>
      </p:sp>
      <p:sp>
        <p:nvSpPr>
          <p:cNvPr id="7" name="Text 4"/>
          <p:cNvSpPr txBox="1"/>
          <p:nvPr/>
        </p:nvSpPr>
        <p:spPr>
          <a:xfrm>
            <a:off x="411480" y="914400"/>
            <a:ext cx="57607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Total-male size composition corrected: resolves a discrepancy between the September 2025 file and the ADF&amp;G processing script</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Plus group expanded to include all crab &gt;135 mm carapace width, previously excluded</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Size-composition bin convention (ADF&amp;G fishery comps): crab exactly on a 5 mm cutoff now assigned to the upper bin, matching the survey and maturity data</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Growth transcription error corrected: a 26.3 mm crab's molt increment recorded as 73 mm instead of 7.3 mm</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Excluded the hybrid data and the immature survey index</a:t>
            </a:r>
            <a:endParaRPr lang="en-US" sz="1750" dirty="0"/>
          </a:p>
        </p:txBody>
      </p:sp>
      <p:pic>
        <p:nvPicPr>
          <p:cNvPr id="8" name="Image 1" descr="/tmp/deck/media/growthfits.png"/>
          <p:cNvPicPr>
            <a:picLocks noChangeAspect="1"/>
          </p:cNvPicPr>
          <p:nvPr/>
        </p:nvPicPr>
        <p:blipFill>
          <a:blip r:embed="rId4"/>
          <a:stretch>
            <a:fillRect/>
          </a:stretch>
        </p:blipFill>
        <p:spPr>
          <a:xfrm>
            <a:off x="6355080" y="914400"/>
            <a:ext cx="5486400" cy="4114800"/>
          </a:xfrm>
          <a:prstGeom prst="rect">
            <a:avLst/>
          </a:prstGeom>
        </p:spPr>
      </p:pic>
      <p:sp>
        <p:nvSpPr>
          <p:cNvPr id="9" name="Text 5"/>
          <p:cNvSpPr txBox="1"/>
          <p:nvPr/>
        </p:nvSpPr>
        <p:spPr>
          <a:xfrm>
            <a:off x="6355080" y="5102352"/>
            <a:ext cx="54864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Model fits (lines) to the observed molt increments (points), by sex.</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Survey trends by maturity definition</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16</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5669280" cy="1981200"/>
        </p:xfrm>
        <a:graphic>
          <a:graphicData uri="http://schemas.openxmlformats.org/drawingml/2006/table">
            <a:tbl>
              <a:tblPr/>
              <a:tblGrid>
                <a:gridCol w="2743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1148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Maturity definition</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2025</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2026</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Change (%)</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41148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Morphometrically mature males</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113.04</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109.91</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-2.8</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Large males (&gt;= 95 mm)</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31.85</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23.00</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-27.8</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41148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Preferred males (&gt; 101 mm)</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22.36</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15.88</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-29.0</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txBox="1"/>
          <p:nvPr/>
        </p:nvSpPr>
        <p:spPr>
          <a:xfrm>
            <a:off x="411480" y="3063240"/>
            <a:ext cx="57607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Observed survey biomass (1,000 t), not model output</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Preferred males: 15.88 kt</a:t>
            </a:r>
          </a:p>
          <a:p>
            <a:pPr marL="609600" lvl="1"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4th lowest in the 44-year series</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Morphometrically mature biomass nearly unchanged: the choice of currency, not the survey, decides whether the stock looks stable or declining</a:t>
            </a:r>
          </a:p>
          <a:p>
            <a:pPr marL="609600" lvl="1" indent="-152400">
              <a:spcAft>
                <a:spcPts val="800"/>
              </a:spcAft>
              <a:buSzPct val="100000"/>
              <a:buChar char="•"/>
            </a:pPr>
            <a:r>
              <a:rPr lang="en-US" sz="1750" dirty="0">
                <a:solidFill>
                  <a:srgbClr val="1A1A1A"/>
                </a:solidFill>
                <a:latin typeface="Calibri" pitchFamily="34" charset="0"/>
                <a:cs typeface="Calibri" pitchFamily="34" charset="-120"/>
              </a:rPr>
              <a:t>Maturity-at-size lower in 2026</a:t>
            </a:r>
            <a:endParaRPr lang="en-US" sz="1750" dirty="0"/>
          </a:p>
        </p:txBody>
      </p:sp>
      <p:pic>
        <p:nvPicPr>
          <p:cNvPr id="9" name="Image 1" descr="/tmp/deck/media/obs101_bio.png"/>
          <p:cNvPicPr>
            <a:picLocks noChangeAspect="1"/>
          </p:cNvPicPr>
          <p:nvPr/>
        </p:nvPicPr>
        <p:blipFill>
          <a:blip r:embed="rId4"/>
          <a:stretch>
            <a:fillRect/>
          </a:stretch>
        </p:blipFill>
        <p:spPr>
          <a:xfrm>
            <a:off x="6766560" y="868680"/>
            <a:ext cx="4480560" cy="4825218"/>
          </a:xfrm>
          <a:prstGeom prst="rect">
            <a:avLst/>
          </a:prstGeom>
        </p:spPr>
      </p:pic>
      <p:sp>
        <p:nvSpPr>
          <p:cNvPr id="10" name="Text 5"/>
          <p:cNvSpPr txBox="1"/>
          <p:nvPr/>
        </p:nvSpPr>
        <p:spPr>
          <a:xfrm>
            <a:off x="6766560" y="5767050"/>
            <a:ext cx="448056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Observed survey biomass by maturity definition, with 95% CI shading.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Bycatch and other removals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17</a:t>
            </a:r>
            <a:endParaRPr lang="en-US" sz="800" dirty="0"/>
          </a:p>
        </p:txBody>
      </p:sp>
      <p:sp>
        <p:nvSpPr>
          <p:cNvPr id="7" name="Text 4"/>
          <p:cNvSpPr txBox="1"/>
          <p:nvPr/>
        </p:nvSpPr>
        <p:spPr>
          <a:xfrm>
            <a:off x="411480" y="914400"/>
            <a:ext cx="57607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Total non-directed bycatch remains very small: </a:t>
            </a:r>
          </a:p>
          <a:p>
            <a:pPr marL="609600" lvl="1"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0.09 kt in 2024/25 </a:t>
            </a:r>
          </a:p>
          <a:p>
            <a:pPr marL="609600" lvl="1"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0.42 kt in 2025/26 (0.04 kt groundfish trawl, 0.38 kt other crab fisheries)</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Discard mortality 30% in the directed pot fishery.</a:t>
            </a:r>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Trawl bycatch is assumed to be 100%</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Female discards very low, not a significant mortality source</a:t>
            </a:r>
            <a:endParaRPr lang="en-US" sz="1750" dirty="0"/>
          </a:p>
        </p:txBody>
      </p:sp>
      <p:pic>
        <p:nvPicPr>
          <p:cNvPr id="8" name="Image 1" descr="/tmp/deck/media/bycatch.png"/>
          <p:cNvPicPr>
            <a:picLocks noChangeAspect="1"/>
          </p:cNvPicPr>
          <p:nvPr/>
        </p:nvPicPr>
        <p:blipFill>
          <a:blip r:embed="rId4"/>
          <a:stretch>
            <a:fillRect/>
          </a:stretch>
        </p:blipFill>
        <p:spPr>
          <a:xfrm>
            <a:off x="6583680" y="868680"/>
            <a:ext cx="4754880" cy="4754880"/>
          </a:xfrm>
          <a:prstGeom prst="rect">
            <a:avLst/>
          </a:prstGeom>
        </p:spPr>
      </p:pic>
      <p:sp>
        <p:nvSpPr>
          <p:cNvPr id="9" name="Text 5"/>
          <p:cNvSpPr txBox="1"/>
          <p:nvPr/>
        </p:nvSpPr>
        <p:spPr>
          <a:xfrm>
            <a:off x="6583680" y="5696712"/>
            <a:ext cx="475488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Non-directed bycatch by gear, numbers of crab.</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maturity question</a:t>
            </a:r>
            <a:endParaRPr lang="en-US" sz="4000" dirty="0"/>
          </a:p>
        </p:txBody>
      </p:sp>
      <p:sp>
        <p:nvSpPr>
          <p:cNvPr id="4" name="Text 1"/>
          <p:cNvSpPr txBox="1"/>
          <p:nvPr/>
        </p:nvSpPr>
        <p:spPr>
          <a:xfrm>
            <a:off x="822960" y="3520440"/>
            <a:ext cx="10515600" cy="731520"/>
          </a:xfrm>
          <a:prstGeom prst="rect">
            <a:avLst/>
          </a:prstGeom>
          <a:noFill/>
          <a:ln/>
        </p:spPr>
        <p:txBody>
          <a:bodyPr wrap="square" lIns="0" tIns="0" rIns="0" bIns="0" rtlCol="0" anchor="ctr"/>
          <a:lstStyle/>
          <a:p>
            <a:pPr marL="0" indent="0">
              <a:buNone/>
            </a:pPr>
            <a:r>
              <a:rPr lang="en-US" sz="2000" dirty="0">
                <a:solidFill>
                  <a:srgbClr val="CCE7EA"/>
                </a:solidFill>
                <a:latin typeface="Calibri" pitchFamily="34" charset="0"/>
                <a:ea typeface="Calibri" pitchFamily="34" charset="-122"/>
                <a:cs typeface="Calibri" pitchFamily="34" charset="-120"/>
              </a:rPr>
              <a:t>Morphometric maturity vs large-male definitions</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Where the currency matters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19</a:t>
            </a:r>
            <a:endParaRPr lang="en-US" sz="800" dirty="0"/>
          </a:p>
        </p:txBody>
      </p:sp>
      <p:sp>
        <p:nvSpPr>
          <p:cNvPr id="7" name="Text 4"/>
          <p:cNvSpPr txBox="1"/>
          <p:nvPr/>
        </p:nvSpPr>
        <p:spPr>
          <a:xfrm>
            <a:off x="411480" y="914400"/>
            <a:ext cx="57607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Morphometric maturity: males with a large claw relative to carapace width. </a:t>
            </a:r>
          </a:p>
          <a:p>
            <a:pPr marL="609600" lvl="1"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Many mature at sizes the fishery does not retain</a:t>
            </a:r>
            <a:endParaRPr lang="en-US" sz="1750" dirty="0"/>
          </a:p>
          <a:p>
            <a:pPr marL="152400" indent="-152400" algn="l">
              <a:spcAft>
                <a:spcPts val="800"/>
              </a:spcAft>
              <a:buSzPct val="100000"/>
              <a:buChar char="•"/>
            </a:pPr>
            <a:r>
              <a:rPr lang="en-US" sz="1750" u="sng" dirty="0">
                <a:solidFill>
                  <a:srgbClr val="1A1A1A"/>
                </a:solidFill>
                <a:latin typeface="Calibri" pitchFamily="34" charset="0"/>
                <a:ea typeface="Calibri" pitchFamily="34" charset="-122"/>
                <a:cs typeface="Calibri" pitchFamily="34" charset="-120"/>
              </a:rPr>
              <a:t>Reference points on morphometric biomass can permit removing essentially all large males while the large-male trend is negative</a:t>
            </a:r>
            <a:endParaRPr lang="en-US" sz="1750" u="sng"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CPT recommended &gt;= 95 mm (2024, Sept 2025). The SSC found region-specific information insufficient for a change and kept morphometric maturity as the basis</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We follow the SSC's direction and report the &gt;= 95 mm and &gt; 101 mm definitions alongside every recommendation</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For reference: the recommended OFL of 16.98 kt is 74% of observed large-male biomass and 107% of observed preferred-male biomass in 2026</a:t>
            </a:r>
            <a:endParaRPr lang="en-US" sz="1750" dirty="0"/>
          </a:p>
        </p:txBody>
      </p:sp>
      <p:pic>
        <p:nvPicPr>
          <p:cNvPr id="8" name="Image 1" descr="/tmp/deck/media/maturity_ogive.png"/>
          <p:cNvPicPr>
            <a:picLocks noChangeAspect="1"/>
          </p:cNvPicPr>
          <p:nvPr/>
        </p:nvPicPr>
        <p:blipFill>
          <a:blip r:embed="rId4"/>
          <a:stretch>
            <a:fillRect/>
          </a:stretch>
        </p:blipFill>
        <p:spPr>
          <a:xfrm>
            <a:off x="7315200" y="868680"/>
            <a:ext cx="3840480" cy="4800600"/>
          </a:xfrm>
          <a:prstGeom prst="rect">
            <a:avLst/>
          </a:prstGeom>
        </p:spPr>
      </p:pic>
      <p:sp>
        <p:nvSpPr>
          <p:cNvPr id="9" name="Text 5"/>
          <p:cNvSpPr txBox="1"/>
          <p:nvPr/>
        </p:nvSpPr>
        <p:spPr>
          <a:xfrm>
            <a:off x="7315200" y="5742432"/>
            <a:ext cx="384048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Estimated probability of morphometric maturity over time for the 5 mm bins spanning 95 and 101 mm. Open circles are years without maturity data, which use the pooled ogive.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Tier 4 quantities under each definition</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11338560" cy="2278380"/>
        </p:xfrm>
        <a:graphic>
          <a:graphicData uri="http://schemas.openxmlformats.org/drawingml/2006/table">
            <a:tbl>
              <a:tblPr/>
              <a:tblGrid>
                <a:gridCol w="1417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417320">
                  <a:extLst>
                    <a:ext uri="{9D8B030D-6E8A-4147-A177-3AD203B41FA5}">
                      <a16:colId xmlns:a16="http://schemas.microsoft.com/office/drawing/2014/main" val="20006"/>
                    </a:ext>
                  </a:extLst>
                </a:gridCol>
                <a:gridCol w="1417320">
                  <a:extLst>
                    <a:ext uri="{9D8B030D-6E8A-4147-A177-3AD203B41FA5}">
                      <a16:colId xmlns:a16="http://schemas.microsoft.com/office/drawing/2014/main" val="20007"/>
                    </a:ext>
                  </a:extLst>
                </a:gridCol>
              </a:tblGrid>
              <a:tr h="457200">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Definition</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BMSY</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B current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Status</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FOFL</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OFL</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OFL (flat)</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550" b="1" dirty="0">
                          <a:solidFill>
                            <a:srgbClr val="FFFFFF"/>
                          </a:solidFill>
                          <a:latin typeface="Calibri" pitchFamily="34" charset="0"/>
                          <a:ea typeface="Calibri" pitchFamily="34" charset="-122"/>
                          <a:cs typeface="Calibri" pitchFamily="34" charset="-120"/>
                        </a:rPr>
                        <a:t>OFL (linear)</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457200">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Morphometric</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146.29</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109.30</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0.747</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0.194</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16.98</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22.80</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21.22</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Large males (&gt;= 95 mm)</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85.20</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23.53</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0.276</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0.053</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1.06</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4.91</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1.24</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457200">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Preferred males (&gt; 101 mm)</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64.43</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16.31</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0.253</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0.046</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0.64</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3.40</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550" dirty="0">
                          <a:solidFill>
                            <a:srgbClr val="1A1A1A"/>
                          </a:solidFill>
                          <a:latin typeface="Calibri" pitchFamily="34" charset="0"/>
                          <a:ea typeface="Calibri" pitchFamily="34" charset="-122"/>
                          <a:cs typeface="Calibri" pitchFamily="34" charset="-120"/>
                        </a:rPr>
                        <a:t>0.75</a:t>
                      </a:r>
                      <a:endParaRPr lang="en-US" sz="15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txBox="1"/>
          <p:nvPr/>
        </p:nvSpPr>
        <p:spPr>
          <a:xfrm>
            <a:off x="411480" y="3291840"/>
            <a:ext cx="1115568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Both alternative currencies give OFLs an order of magnitude lower: both sit just above the closure threshold, where the ramp pushes FOFL toward zero</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The definition changes the OFL 26-fold. That dominates every other source of uncertainty in the Tier 4 calculation</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Biomass and OFL in 1,000 t, FOFL per year</a:t>
            </a: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Tier 4 assessment</a:t>
            </a:r>
            <a:endParaRPr lang="en-US" sz="4000" dirty="0"/>
          </a:p>
        </p:txBody>
      </p:sp>
      <p:sp>
        <p:nvSpPr>
          <p:cNvPr id="4" name="Text 1"/>
          <p:cNvSpPr txBox="1"/>
          <p:nvPr/>
        </p:nvSpPr>
        <p:spPr>
          <a:xfrm>
            <a:off x="822960" y="3520440"/>
            <a:ext cx="10515600" cy="731520"/>
          </a:xfrm>
          <a:prstGeom prst="rect">
            <a:avLst/>
          </a:prstGeom>
          <a:noFill/>
          <a:ln/>
        </p:spPr>
        <p:txBody>
          <a:bodyPr wrap="square" lIns="0" tIns="0" rIns="0" bIns="0" rtlCol="0" anchor="ctr"/>
          <a:lstStyle/>
          <a:p>
            <a:pPr marL="0" indent="0">
              <a:buNone/>
            </a:pPr>
            <a:r>
              <a:rPr lang="en-US" sz="2000" dirty="0">
                <a:solidFill>
                  <a:srgbClr val="CCE7EA"/>
                </a:solidFill>
                <a:latin typeface="Calibri" pitchFamily="34" charset="0"/>
                <a:ea typeface="Calibri" pitchFamily="34" charset="-122"/>
                <a:cs typeface="Calibri" pitchFamily="34" charset="-120"/>
              </a:rPr>
              <a:t>The basis of the 2026/27 specification</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REMA model on the survey series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22</a:t>
            </a:r>
            <a:endParaRPr lang="en-US" sz="800" dirty="0"/>
          </a:p>
        </p:txBody>
      </p:sp>
      <p:sp>
        <p:nvSpPr>
          <p:cNvPr id="7" name="Text 4"/>
          <p:cNvSpPr txBox="1"/>
          <p:nvPr/>
        </p:nvSpPr>
        <p:spPr>
          <a:xfrm>
            <a:off x="411480" y="914400"/>
            <a:ext cx="57607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Random-effects (REMA) smooth of observed survey biomass, fit separately to each maturity definition</a:t>
            </a:r>
            <a:endParaRPr lang="en-US" sz="1750" dirty="0"/>
          </a:p>
          <a:p>
            <a:pPr marL="152400"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The control rule uses the terminal smoothed biomass estimate: 109.30 kt (95% CI 81.9 to 145.9, CV 14.8%)</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BMSY proxy = mean of the smoothed series from 1982 to 2026: 146.29 kt</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Smoothed series interpolates a value for 2020, when the survey was cancelled. Should we exclude that from the BMSY proxy? </a:t>
            </a:r>
            <a:endParaRPr lang="en-US" sz="1750" dirty="0"/>
          </a:p>
          <a:p>
            <a:pPr marL="152400" indent="-152400" algn="l">
              <a:spcAft>
                <a:spcPts val="800"/>
              </a:spcAft>
              <a:buSzPct val="100000"/>
              <a:buChar char="•"/>
            </a:pPr>
            <a:r>
              <a:rPr lang="en-US" sz="1750">
                <a:solidFill>
                  <a:srgbClr val="1A1A1A"/>
                </a:solidFill>
                <a:latin typeface="Calibri" pitchFamily="34" charset="0"/>
                <a:ea typeface="Calibri" pitchFamily="34" charset="-122"/>
                <a:cs typeface="Calibri" pitchFamily="34" charset="-120"/>
              </a:rPr>
              <a:t>BMSY proxy and OFL change ~1% from Sept 2025</a:t>
            </a:r>
            <a:endParaRPr lang="en-US" sz="1750" dirty="0"/>
          </a:p>
        </p:txBody>
      </p:sp>
      <p:pic>
        <p:nvPicPr>
          <p:cNvPr id="8" name="Image 1" descr="/tmp/deck/media/rema_fit.png"/>
          <p:cNvPicPr>
            <a:picLocks noChangeAspect="1"/>
          </p:cNvPicPr>
          <p:nvPr/>
        </p:nvPicPr>
        <p:blipFill>
          <a:blip r:embed="rId4"/>
          <a:stretch>
            <a:fillRect/>
          </a:stretch>
        </p:blipFill>
        <p:spPr>
          <a:xfrm>
            <a:off x="6370554" y="870000"/>
            <a:ext cx="5394492" cy="5030000"/>
          </a:xfrm>
          <a:prstGeom prst="rect">
            <a:avLst/>
          </a:prstGeom>
        </p:spPr>
      </p:pic>
      <p:sp>
        <p:nvSpPr>
          <p:cNvPr id="9" name="Text 5"/>
          <p:cNvSpPr txBox="1"/>
          <p:nvPr/>
        </p:nvSpPr>
        <p:spPr>
          <a:xfrm>
            <a:off x="5855080" y="5950000"/>
            <a:ext cx="642544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REMA smoothed biomass with 95% prediction intervals, by maturity definition. Points are survey observations.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Harvest control rule</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23</a:t>
            </a:r>
            <a:endParaRPr lang="en-US" sz="800" dirty="0"/>
          </a:p>
        </p:txBody>
      </p:sp>
      <p:sp>
        <p:nvSpPr>
          <p:cNvPr id="7" name="Text 4"/>
          <p:cNvSpPr txBox="1"/>
          <p:nvPr/>
        </p:nvSpPr>
        <p:spPr>
          <a:xfrm>
            <a:off x="411480" y="914400"/>
            <a:ext cx="57607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Ramped crab-FMP Tier 4 rule: </a:t>
            </a:r>
          </a:p>
          <a:p>
            <a:pPr marL="609600" lvl="1"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FOFL = M (B/BMSY − alpha) / (1 − alpha) </a:t>
            </a:r>
          </a:p>
          <a:p>
            <a:pPr marL="609600" lvl="1" indent="-152400">
              <a:spcAft>
                <a:spcPts val="800"/>
              </a:spcAft>
              <a:buSzPct val="100000"/>
              <a:buFontTx/>
              <a:buChar char="•"/>
            </a:pPr>
            <a:r>
              <a:rPr lang="en-US" sz="1750" dirty="0">
                <a:solidFill>
                  <a:srgbClr val="1A1A1A"/>
                </a:solidFill>
                <a:latin typeface="Calibri" pitchFamily="34" charset="0"/>
                <a:ea typeface="Calibri" pitchFamily="34" charset="-122"/>
                <a:cs typeface="Calibri" pitchFamily="34" charset="-120"/>
              </a:rPr>
              <a:t>alpha = 0.10</a:t>
            </a:r>
          </a:p>
          <a:p>
            <a:pPr marL="609600" lvl="1" indent="-152400">
              <a:spcAft>
                <a:spcPts val="800"/>
              </a:spcAft>
              <a:buSzPct val="100000"/>
              <a:buFontTx/>
              <a:buChar char="•"/>
            </a:pPr>
            <a:r>
              <a:rPr lang="en-US" sz="1750" dirty="0">
                <a:solidFill>
                  <a:srgbClr val="1A1A1A"/>
                </a:solidFill>
                <a:latin typeface="Calibri" pitchFamily="34" charset="0"/>
                <a:ea typeface="Calibri" pitchFamily="34" charset="-122"/>
                <a:cs typeface="Calibri" pitchFamily="34" charset="-120"/>
              </a:rPr>
              <a:t>M = 0.27</a:t>
            </a:r>
          </a:p>
          <a:p>
            <a:pPr marL="152400"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Status (0.747) is between the closure threshold (0.25) and BMSY proxy </a:t>
            </a:r>
          </a:p>
          <a:p>
            <a:pPr marL="152400"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At current status FOFL = 0.194 </a:t>
            </a:r>
          </a:p>
          <a:p>
            <a:pPr marL="152400" indent="-152400">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Baranov catch equation, changed this cycle from the linear form.</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Same rule the SSC adopted for 2025/26, after finding that a Tier 4 specification with no control rule was an incomplete implementation</a:t>
            </a:r>
            <a:endParaRPr lang="en-US" sz="1750" dirty="0"/>
          </a:p>
        </p:txBody>
      </p:sp>
      <p:pic>
        <p:nvPicPr>
          <p:cNvPr id="8" name="Image 1" descr="/tmp/deck/media/tier4_status.png"/>
          <p:cNvPicPr>
            <a:picLocks noChangeAspect="1"/>
          </p:cNvPicPr>
          <p:nvPr/>
        </p:nvPicPr>
        <p:blipFill>
          <a:blip r:embed="rId4"/>
          <a:stretch>
            <a:fillRect/>
          </a:stretch>
        </p:blipFill>
        <p:spPr>
          <a:xfrm>
            <a:off x="6355080" y="1080000"/>
            <a:ext cx="5425440" cy="4140467"/>
          </a:xfrm>
          <a:prstGeom prst="rect">
            <a:avLst/>
          </a:prstGeom>
        </p:spPr>
      </p:pic>
      <p:sp>
        <p:nvSpPr>
          <p:cNvPr id="9" name="Text 5"/>
          <p:cNvSpPr txBox="1"/>
          <p:nvPr/>
        </p:nvSpPr>
        <p:spPr>
          <a:xfrm>
            <a:off x="5855080" y="5270467"/>
            <a:ext cx="642544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Tier 4 status on the raw survey series by maturity definition, each against its own BMSY proxy.</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2"/>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Catch equation: Baranov replaces the linear form</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24</a:t>
            </a:r>
            <a:endParaRPr lang="en-US" sz="800" dirty="0"/>
          </a:p>
        </p:txBody>
      </p:sp>
      <p:sp>
        <p:nvSpPr>
          <p:cNvPr id="7" name="Text 4"/>
          <p:cNvSpPr txBox="1"/>
          <p:nvPr/>
        </p:nvSpPr>
        <p:spPr>
          <a:xfrm>
            <a:off x="411480" y="914400"/>
            <a:ext cx="11338560" cy="5394960"/>
          </a:xfrm>
          <a:prstGeom prst="rect">
            <a:avLst/>
          </a:prstGeom>
          <a:noFill/>
          <a:ln/>
        </p:spPr>
        <p:txBody>
          <a:bodyPr wrap="square" rtlCol="0" anchor="t"/>
          <a:lstStyle/>
          <a:p>
            <a:pPr marL="0" indent="0" algn="l">
              <a:buNone/>
            </a:pPr>
            <a:r>
              <a:rPr lang="en-US" sz="1500" b="1" dirty="0">
                <a:solidFill>
                  <a:srgbClr val="07346B"/>
                </a:solidFill>
                <a:latin typeface="Calibri" pitchFamily="34" charset="0"/>
                <a:ea typeface="Calibri" pitchFamily="34" charset="-122"/>
                <a:cs typeface="Calibri" pitchFamily="34" charset="-120"/>
              </a:rPr>
              <a:t>Previous basis (linear):</a:t>
            </a:r>
            <a:endParaRPr lang="en-US" sz="1500" dirty="0"/>
          </a:p>
          <a:p>
            <a:pPr marL="0" indent="0" algn="l">
              <a:buNone/>
            </a:pPr>
            <a:r>
              <a:rPr lang="en-US" sz="2000" dirty="0">
                <a:solidFill>
                  <a:srgbClr val="07346B"/>
                </a:solidFill>
                <a:latin typeface="Calibri" pitchFamily="34" charset="0"/>
                <a:ea typeface="Calibri" pitchFamily="34" charset="-122"/>
                <a:cs typeface="Calibri" pitchFamily="34" charset="-120"/>
              </a:rPr>
              <a:t>OFL = FOFL × B</a:t>
            </a:r>
            <a:endParaRPr lang="en-US" sz="2000" dirty="0"/>
          </a:p>
          <a:p>
            <a:pPr marL="0" indent="0" algn="l">
              <a:buNone/>
            </a:pPr>
            <a:endParaRPr lang="en-US" sz="900" dirty="0"/>
          </a:p>
          <a:p>
            <a:pPr marL="0" indent="0" algn="l">
              <a:buNone/>
            </a:pPr>
            <a:r>
              <a:rPr lang="en-US" sz="1500" b="1" dirty="0">
                <a:solidFill>
                  <a:srgbClr val="008998"/>
                </a:solidFill>
                <a:latin typeface="Calibri" pitchFamily="34" charset="0"/>
                <a:ea typeface="Calibri" pitchFamily="34" charset="-122"/>
                <a:cs typeface="Calibri" pitchFamily="34" charset="-120"/>
              </a:rPr>
              <a:t>This cycle (Baranov):</a:t>
            </a:r>
            <a:endParaRPr lang="en-US" sz="1500" dirty="0"/>
          </a:p>
          <a:p>
            <a:pPr marL="0" indent="0" algn="l">
              <a:buNone/>
            </a:pPr>
            <a:r>
              <a:rPr lang="en-US" sz="2000" dirty="0">
                <a:solidFill>
                  <a:srgbClr val="008998"/>
                </a:solidFill>
                <a:latin typeface="Calibri" pitchFamily="34" charset="0"/>
                <a:ea typeface="Calibri" pitchFamily="34" charset="-122"/>
                <a:cs typeface="Calibri" pitchFamily="34" charset="-120"/>
              </a:rPr>
              <a:t>OFL = B × FOFL / (FOFL + M) × (1 − exp(−(FOFL + M)))</a:t>
            </a:r>
            <a:endParaRPr lang="en-US" sz="2000" dirty="0"/>
          </a:p>
          <a:p>
            <a:pPr marL="0" indent="0" algn="l">
              <a:buNone/>
            </a:pPr>
            <a:endParaRPr lang="en-US" sz="900" dirty="0"/>
          </a:p>
          <a:p>
            <a:pPr marL="152400" indent="-152400" algn="l">
              <a:spcAft>
                <a:spcPts val="900"/>
              </a:spcAft>
              <a:buSzPct val="100000"/>
              <a:buChar char="•"/>
            </a:pPr>
            <a:r>
              <a:rPr lang="en-US" sz="1600" dirty="0">
                <a:solidFill>
                  <a:srgbClr val="1A1A1A"/>
                </a:solidFill>
                <a:latin typeface="Calibri" pitchFamily="34" charset="0"/>
                <a:ea typeface="Calibri" pitchFamily="34" charset="-122"/>
                <a:cs typeface="Calibri" pitchFamily="34" charset="-120"/>
              </a:rPr>
              <a:t>FOFL is an instantaneous rate and M removes crab over the same year. The catch is the fishing share of total mortality Z = FOFL + M, not FOFL applied to the starting biomass</a:t>
            </a:r>
            <a:endParaRPr lang="en-US" sz="1600" dirty="0"/>
          </a:p>
          <a:p>
            <a:pPr marL="152400" indent="-152400" algn="l">
              <a:spcAft>
                <a:spcPts val="900"/>
              </a:spcAft>
              <a:buSzPct val="100000"/>
              <a:buChar char="•"/>
            </a:pPr>
            <a:r>
              <a:rPr lang="en-US" sz="1600" dirty="0">
                <a:solidFill>
                  <a:srgbClr val="1A1A1A"/>
                </a:solidFill>
                <a:latin typeface="Calibri" pitchFamily="34" charset="0"/>
                <a:ea typeface="Calibri" pitchFamily="34" charset="-122"/>
                <a:cs typeface="Calibri" pitchFamily="34" charset="-120"/>
              </a:rPr>
              <a:t>The linear form is the first-order approximation and always biases the OFL high. </a:t>
            </a:r>
            <a:endParaRPr lang="en-US" sz="1600" dirty="0"/>
          </a:p>
          <a:p>
            <a:pPr marL="152400" indent="-152400" algn="l">
              <a:spcAft>
                <a:spcPts val="900"/>
              </a:spcAft>
              <a:buSzPct val="100000"/>
              <a:buChar char="•"/>
            </a:pPr>
            <a:r>
              <a:rPr lang="en-US" sz="1600" dirty="0">
                <a:solidFill>
                  <a:srgbClr val="1A1A1A"/>
                </a:solidFill>
                <a:latin typeface="Calibri" pitchFamily="34" charset="0"/>
                <a:ea typeface="Calibri" pitchFamily="34" charset="-122"/>
                <a:cs typeface="Calibri" pitchFamily="34" charset="-120"/>
              </a:rPr>
              <a:t>Holding FOFL = M so only the equation changes: the linear form gives 29.51 kt against 22.80 kt from the Baranov. Using the recommended HCR the 2 forms give 21.22 (linear) and 16.98 kt (Baranov)</a:t>
            </a:r>
            <a:endParaRPr lang="en-US" sz="1600" dirty="0"/>
          </a:p>
          <a:p>
            <a:pPr marL="152400" indent="-152400" algn="l">
              <a:spcAft>
                <a:spcPts val="900"/>
              </a:spcAft>
              <a:buSzPct val="100000"/>
              <a:buChar char="•"/>
            </a:pPr>
            <a:r>
              <a:rPr lang="en-US" sz="1600" dirty="0">
                <a:solidFill>
                  <a:srgbClr val="1A1A1A"/>
                </a:solidFill>
                <a:latin typeface="Calibri" pitchFamily="34" charset="0"/>
                <a:ea typeface="Calibri" pitchFamily="34" charset="-122"/>
                <a:cs typeface="Calibri" pitchFamily="34" charset="-120"/>
              </a:rPr>
              <a:t>The 2025/26 specification used the sloped rule with the linear equation, so the catch equation is the only change from last year</a:t>
            </a:r>
            <a:endParaRPr lang="en-US" sz="1600" dirty="0"/>
          </a:p>
          <a:p>
            <a:pPr marL="152400" indent="-152400" algn="l">
              <a:spcAft>
                <a:spcPts val="900"/>
              </a:spcAft>
              <a:buSzPct val="100000"/>
              <a:buChar char="•"/>
            </a:pPr>
            <a:r>
              <a:rPr lang="en-US" sz="1600" dirty="0">
                <a:solidFill>
                  <a:srgbClr val="1A1A1A"/>
                </a:solidFill>
                <a:latin typeface="Calibri" pitchFamily="34" charset="0"/>
                <a:ea typeface="Calibri" pitchFamily="34" charset="-122"/>
                <a:cs typeface="Calibri" pitchFamily="34" charset="-120"/>
              </a:rPr>
              <a:t>Linear values stay in Table 11 because the other BSAI crab Tier 4 assessments use that form, which keeps the cross-stock comparison. </a:t>
            </a:r>
            <a:r>
              <a:rPr lang="en-US" sz="1600" u="sng" dirty="0">
                <a:solidFill>
                  <a:srgbClr val="1A1A1A"/>
                </a:solidFill>
                <a:latin typeface="Calibri" pitchFamily="34" charset="0"/>
                <a:ea typeface="Calibri" pitchFamily="34" charset="-122"/>
                <a:cs typeface="Calibri" pitchFamily="34" charset="-120"/>
              </a:rPr>
              <a:t>Its use is not recommended given the bias</a:t>
            </a:r>
            <a:endParaRPr lang="en-US" sz="1600" u="sng"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2026/27 specification and OFL uncertainty</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25</a:t>
            </a:r>
            <a:endParaRPr lang="en-US" sz="800" dirty="0"/>
          </a:p>
        </p:txBody>
      </p:sp>
      <p:sp>
        <p:nvSpPr>
          <p:cNvPr id="7" name="Shape 4"/>
          <p:cNvSpPr/>
          <p:nvPr/>
        </p:nvSpPr>
        <p:spPr>
          <a:xfrm>
            <a:off x="411480" y="96012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8" name="Text 5"/>
          <p:cNvSpPr txBox="1"/>
          <p:nvPr/>
        </p:nvSpPr>
        <p:spPr>
          <a:xfrm>
            <a:off x="411480" y="106984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16.98 kt</a:t>
            </a:r>
            <a:endParaRPr lang="en-US" sz="3200" dirty="0"/>
          </a:p>
        </p:txBody>
      </p:sp>
      <p:sp>
        <p:nvSpPr>
          <p:cNvPr id="9" name="Text 6"/>
          <p:cNvSpPr txBox="1"/>
          <p:nvPr/>
        </p:nvSpPr>
        <p:spPr>
          <a:xfrm>
            <a:off x="502920" y="182880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OFL (median)</a:t>
            </a:r>
            <a:endParaRPr lang="en-US" sz="1350" dirty="0"/>
          </a:p>
        </p:txBody>
      </p:sp>
      <p:sp>
        <p:nvSpPr>
          <p:cNvPr id="10" name="Shape 7"/>
          <p:cNvSpPr/>
          <p:nvPr/>
        </p:nvSpPr>
        <p:spPr>
          <a:xfrm>
            <a:off x="3154680" y="96012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1" name="Text 8"/>
          <p:cNvSpPr txBox="1"/>
          <p:nvPr/>
        </p:nvSpPr>
        <p:spPr>
          <a:xfrm>
            <a:off x="3154680" y="106984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13.58 kt</a:t>
            </a:r>
            <a:endParaRPr lang="en-US" sz="3200" dirty="0"/>
          </a:p>
        </p:txBody>
      </p:sp>
      <p:sp>
        <p:nvSpPr>
          <p:cNvPr id="12" name="Text 9"/>
          <p:cNvSpPr txBox="1"/>
          <p:nvPr/>
        </p:nvSpPr>
        <p:spPr>
          <a:xfrm>
            <a:off x="3246120" y="182880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ABC (20% buffer)</a:t>
            </a:r>
            <a:endParaRPr lang="en-US" sz="1350" dirty="0"/>
          </a:p>
        </p:txBody>
      </p:sp>
      <p:sp>
        <p:nvSpPr>
          <p:cNvPr id="13" name="Shape 10"/>
          <p:cNvSpPr/>
          <p:nvPr/>
        </p:nvSpPr>
        <p:spPr>
          <a:xfrm>
            <a:off x="411480" y="251460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4" name="Text 11"/>
          <p:cNvSpPr txBox="1"/>
          <p:nvPr/>
        </p:nvSpPr>
        <p:spPr>
          <a:xfrm>
            <a:off x="411480" y="262432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9.27-30.36</a:t>
            </a:r>
            <a:endParaRPr lang="en-US" sz="3200" dirty="0"/>
          </a:p>
        </p:txBody>
      </p:sp>
      <p:sp>
        <p:nvSpPr>
          <p:cNvPr id="15" name="Text 12"/>
          <p:cNvSpPr txBox="1"/>
          <p:nvPr/>
        </p:nvSpPr>
        <p:spPr>
          <a:xfrm>
            <a:off x="502920" y="338328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OFL 95% CI (kt)</a:t>
            </a:r>
            <a:endParaRPr lang="en-US" sz="1350" dirty="0"/>
          </a:p>
        </p:txBody>
      </p:sp>
      <p:sp>
        <p:nvSpPr>
          <p:cNvPr id="16" name="Shape 13"/>
          <p:cNvSpPr/>
          <p:nvPr/>
        </p:nvSpPr>
        <p:spPr>
          <a:xfrm>
            <a:off x="3154680" y="251460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7" name="Text 14"/>
          <p:cNvSpPr txBox="1"/>
          <p:nvPr/>
        </p:nvSpPr>
        <p:spPr>
          <a:xfrm>
            <a:off x="3154680" y="262432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0.194 / yr</a:t>
            </a:r>
            <a:endParaRPr lang="en-US" sz="3200" dirty="0"/>
          </a:p>
        </p:txBody>
      </p:sp>
      <p:sp>
        <p:nvSpPr>
          <p:cNvPr id="18" name="Text 15"/>
          <p:cNvSpPr txBox="1"/>
          <p:nvPr/>
        </p:nvSpPr>
        <p:spPr>
          <a:xfrm>
            <a:off x="3246120" y="338328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FOFL under the ramp</a:t>
            </a:r>
            <a:endParaRPr lang="en-US" sz="1350" dirty="0"/>
          </a:p>
        </p:txBody>
      </p:sp>
      <p:sp>
        <p:nvSpPr>
          <p:cNvPr id="19" name="Text 16"/>
          <p:cNvSpPr txBox="1"/>
          <p:nvPr/>
        </p:nvSpPr>
        <p:spPr>
          <a:xfrm>
            <a:off x="411480" y="4160520"/>
            <a:ext cx="5577840" cy="5394960"/>
          </a:xfrm>
          <a:prstGeom prst="rect">
            <a:avLst/>
          </a:prstGeom>
          <a:noFill/>
          <a:ln/>
        </p:spPr>
        <p:txBody>
          <a:bodyPr wrap="square" rtlCol="0" anchor="t"/>
          <a:lstStyle/>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Distribution from propagating the REMA CI through the control rule and catch equation</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Kink in the upper tail where biomass crosses the BMSY proxy and the rule caps FOFL at M</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OFL down 16% from the 20.11 kt specified for 2025/26. ABC up 13% given the buffer change from 40% to 20%</a:t>
            </a:r>
            <a:endParaRPr lang="en-US" sz="1700" dirty="0"/>
          </a:p>
        </p:txBody>
      </p:sp>
      <p:pic>
        <p:nvPicPr>
          <p:cNvPr id="20" name="Image 1" descr="/tmp/deck/media/ofl_dist.png"/>
          <p:cNvPicPr>
            <a:picLocks noChangeAspect="1"/>
          </p:cNvPicPr>
          <p:nvPr/>
        </p:nvPicPr>
        <p:blipFill>
          <a:blip r:embed="rId4"/>
          <a:stretch>
            <a:fillRect/>
          </a:stretch>
        </p:blipFill>
        <p:spPr>
          <a:xfrm>
            <a:off x="6355080" y="1371600"/>
            <a:ext cx="5486400" cy="3429000"/>
          </a:xfrm>
          <a:prstGeom prst="rect">
            <a:avLst/>
          </a:prstGeom>
        </p:spPr>
      </p:pic>
      <p:sp>
        <p:nvSpPr>
          <p:cNvPr id="21" name="Text 17"/>
          <p:cNvSpPr txBox="1"/>
          <p:nvPr/>
        </p:nvSpPr>
        <p:spPr>
          <a:xfrm>
            <a:off x="6355080" y="4890000"/>
            <a:ext cx="54864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OFL distribution under the recommended basis. Vertical lines mark the point OFLs under the large-male definitions, far outside the distribution.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Tier 3 models</a:t>
            </a:r>
            <a:endParaRPr lang="en-US" sz="4000" dirty="0"/>
          </a:p>
        </p:txBody>
      </p:sp>
      <p:sp>
        <p:nvSpPr>
          <p:cNvPr id="4" name="Text 1"/>
          <p:cNvSpPr txBox="1"/>
          <p:nvPr/>
        </p:nvSpPr>
        <p:spPr>
          <a:xfrm>
            <a:off x="822960" y="3520440"/>
            <a:ext cx="10515600" cy="731520"/>
          </a:xfrm>
          <a:prstGeom prst="rect">
            <a:avLst/>
          </a:prstGeom>
          <a:noFill/>
          <a:ln/>
        </p:spPr>
        <p:txBody>
          <a:bodyPr wrap="square" lIns="0" tIns="0" rIns="0" bIns="0" rtlCol="0" anchor="ctr"/>
          <a:lstStyle/>
          <a:p>
            <a:pPr marL="0" indent="0">
              <a:buNone/>
            </a:pPr>
            <a:r>
              <a:rPr lang="en-US" sz="2000" dirty="0">
                <a:solidFill>
                  <a:srgbClr val="CCE7EA"/>
                </a:solidFill>
                <a:latin typeface="Calibri" pitchFamily="34" charset="0"/>
                <a:ea typeface="Calibri" pitchFamily="34" charset="-122"/>
                <a:cs typeface="Calibri" pitchFamily="34" charset="-120"/>
              </a:rPr>
              <a:t>6 models documenting progress on the convergence problems</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Tier 3 model set</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27</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225338736"/>
              </p:ext>
            </p:extLst>
          </p:nvPr>
        </p:nvGraphicFramePr>
        <p:xfrm>
          <a:off x="411480" y="960120"/>
          <a:ext cx="11338560" cy="3386328"/>
        </p:xfrm>
        <a:graphic>
          <a:graphicData uri="http://schemas.openxmlformats.org/drawingml/2006/table">
            <a:tbl>
              <a:tblPr/>
              <a:tblGrid>
                <a:gridCol w="82296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475488">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Model</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Description</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Data end</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450" b="1" dirty="0">
                          <a:solidFill>
                            <a:srgbClr val="FFFFFF"/>
                          </a:solidFill>
                          <a:latin typeface="Calibri" pitchFamily="34" charset="0"/>
                          <a:ea typeface="Calibri" pitchFamily="34" charset="-122"/>
                          <a:cs typeface="Calibri" pitchFamily="34" charset="-120"/>
                        </a:rPr>
                        <a:t>Purpose</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475488">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25.3</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2025 accepted model, rolled forward (GMACS 2.20.22, as fitted)</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2024</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Continuity reference</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450" b="1" dirty="0">
                          <a:solidFill>
                            <a:srgbClr val="1A1A1A"/>
                          </a:solidFill>
                          <a:latin typeface="Calibri" pitchFamily="34" charset="0"/>
                          <a:ea typeface="Calibri" pitchFamily="34" charset="-122"/>
                          <a:cs typeface="Calibri" pitchFamily="34" charset="-120"/>
                        </a:rPr>
                        <a:t>26.1</a:t>
                      </a:r>
                      <a:endParaRPr lang="en-US" sz="1450" b="1"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25.3 + GMACS 2.20.34, comp fix, expanded plus group, new maturity workflow (May accepted)</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2024</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May baseline</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475488">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26.1a</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26.1 + bin convention and growth transcription fixes</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2024</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Isolate data corrections</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450" b="1" dirty="0">
                          <a:solidFill>
                            <a:srgbClr val="1A1A1A"/>
                          </a:solidFill>
                          <a:latin typeface="Calibri" pitchFamily="34" charset="0"/>
                          <a:ea typeface="Calibri" pitchFamily="34" charset="-122"/>
                          <a:cs typeface="Calibri" pitchFamily="34" charset="-120"/>
                        </a:rPr>
                        <a:t>26.1b</a:t>
                      </a:r>
                      <a:endParaRPr lang="en-US" sz="1450" b="1"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26.1a + 2025/26 fishery and 2026 survey (corrected). Author-preferred</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2025</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Current data</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r h="475488">
                <a:tc>
                  <a:txBody>
                    <a:bodyPr/>
                    <a:lstStyle/>
                    <a:p>
                      <a:pPr marL="0" indent="0" algn="l">
                        <a:buNone/>
                      </a:pPr>
                      <a:r>
                        <a:rPr lang="en-US" sz="1450" b="1" dirty="0">
                          <a:solidFill>
                            <a:srgbClr val="1A1A1A"/>
                          </a:solidFill>
                          <a:latin typeface="Calibri" pitchFamily="34" charset="0"/>
                          <a:ea typeface="Calibri" pitchFamily="34" charset="-122"/>
                          <a:cs typeface="Calibri" pitchFamily="34" charset="-120"/>
                        </a:rPr>
                        <a:t>26.1c</a:t>
                      </a:r>
                      <a:endParaRPr lang="en-US" sz="1450" b="1"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26.1b truncated to 2019</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2019</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Test post-collapse influence</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450" b="1" dirty="0">
                          <a:solidFill>
                            <a:srgbClr val="1A1A1A"/>
                          </a:solidFill>
                          <a:latin typeface="Calibri" pitchFamily="34" charset="0"/>
                          <a:ea typeface="Calibri" pitchFamily="34" charset="-122"/>
                          <a:cs typeface="Calibri" pitchFamily="34" charset="-120"/>
                        </a:rPr>
                        <a:t>26.2</a:t>
                      </a:r>
                      <a:endParaRPr lang="en-US" sz="1450" b="1"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26.1b male-only (females removed, 412 to 234 parameters)</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2025</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450" dirty="0">
                          <a:solidFill>
                            <a:srgbClr val="1A1A1A"/>
                          </a:solidFill>
                          <a:latin typeface="Calibri" pitchFamily="34" charset="0"/>
                          <a:ea typeface="Calibri" pitchFamily="34" charset="-122"/>
                          <a:cs typeface="Calibri" pitchFamily="34" charset="-120"/>
                        </a:rPr>
                        <a:t>Simplification direction</a:t>
                      </a:r>
                      <a:endParaRPr lang="en-US" sz="145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411480" y="4434840"/>
            <a:ext cx="10972800" cy="5394960"/>
          </a:xfrm>
          <a:prstGeom prst="rect">
            <a:avLst/>
          </a:prstGeom>
          <a:noFill/>
          <a:ln/>
        </p:spPr>
        <p:txBody>
          <a:bodyPr wrap="square" rtlCol="0" anchor="t"/>
          <a:lstStyle/>
          <a:p>
            <a:pPr marL="152400" indent="-152400" algn="l">
              <a:spcAft>
                <a:spcPts val="800"/>
              </a:spcAft>
              <a:buSzPct val="100000"/>
              <a:buChar char="•"/>
            </a:pPr>
            <a:r>
              <a:rPr lang="en-US" sz="1750" u="sng" dirty="0">
                <a:solidFill>
                  <a:srgbClr val="1A1A1A"/>
                </a:solidFill>
                <a:latin typeface="Calibri" pitchFamily="34" charset="0"/>
                <a:ea typeface="Calibri" pitchFamily="34" charset="-122"/>
                <a:cs typeface="Calibri" pitchFamily="34" charset="-120"/>
              </a:rPr>
              <a:t>None proposed for specification</a:t>
            </a:r>
            <a:r>
              <a:rPr lang="en-US" sz="1750" dirty="0">
                <a:solidFill>
                  <a:srgbClr val="1A1A1A"/>
                </a:solidFill>
                <a:latin typeface="Calibri" pitchFamily="34" charset="0"/>
                <a:ea typeface="Calibri" pitchFamily="34" charset="-122"/>
                <a:cs typeface="Calibri" pitchFamily="34" charset="-120"/>
              </a:rPr>
              <a:t>. Fits for the 4 jittered models (bold) are the best of 100 jitter starts. Model 25.3 is as originally fit in September 2025 under GMACS 2.20.22, which cannot be re-run. Model 26.1a was fit this cycle without a jitter run.</a:t>
            </a:r>
            <a:endParaRPr lang="en-US" sz="1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Management quantities across models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28</a:t>
            </a:r>
            <a:endParaRPr lang="en-US" sz="800" dirty="0"/>
          </a:p>
        </p:txBody>
      </p:sp>
      <p:graphicFrame>
        <p:nvGraphicFramePr>
          <p:cNvPr id="28" name="Table 0"/>
          <p:cNvGraphicFramePr>
            <a:graphicFrameLocks noGrp="1"/>
          </p:cNvGraphicFramePr>
          <p:nvPr>
            <p:extLst>
              <p:ext uri="{D42A27DB-BD31-4B8C-83A1-F6EECF244321}">
                <p14:modId xmlns:p14="http://schemas.microsoft.com/office/powerpoint/2010/main" val="446095255"/>
              </p:ext>
            </p:extLst>
          </p:nvPr>
        </p:nvGraphicFramePr>
        <p:xfrm>
          <a:off x="411480" y="960120"/>
          <a:ext cx="11338560" cy="3611880"/>
        </p:xfrm>
        <a:graphic>
          <a:graphicData uri="http://schemas.openxmlformats.org/drawingml/2006/table">
            <a:tbl>
              <a:tblPr/>
              <a:tblGrid>
                <a:gridCol w="1889760">
                  <a:extLst>
                    <a:ext uri="{9D8B030D-6E8A-4147-A177-3AD203B41FA5}">
                      <a16:colId xmlns:a16="http://schemas.microsoft.com/office/drawing/2014/main" val="20000"/>
                    </a:ext>
                  </a:extLst>
                </a:gridCol>
                <a:gridCol w="1889760">
                  <a:extLst>
                    <a:ext uri="{9D8B030D-6E8A-4147-A177-3AD203B41FA5}">
                      <a16:colId xmlns:a16="http://schemas.microsoft.com/office/drawing/2014/main" val="20001"/>
                    </a:ext>
                  </a:extLst>
                </a:gridCol>
                <a:gridCol w="1889760">
                  <a:extLst>
                    <a:ext uri="{9D8B030D-6E8A-4147-A177-3AD203B41FA5}">
                      <a16:colId xmlns:a16="http://schemas.microsoft.com/office/drawing/2014/main" val="20002"/>
                    </a:ext>
                  </a:extLst>
                </a:gridCol>
                <a:gridCol w="1889760">
                  <a:extLst>
                    <a:ext uri="{9D8B030D-6E8A-4147-A177-3AD203B41FA5}">
                      <a16:colId xmlns:a16="http://schemas.microsoft.com/office/drawing/2014/main" val="20003"/>
                    </a:ext>
                  </a:extLst>
                </a:gridCol>
                <a:gridCol w="1719580">
                  <a:extLst>
                    <a:ext uri="{9D8B030D-6E8A-4147-A177-3AD203B41FA5}">
                      <a16:colId xmlns:a16="http://schemas.microsoft.com/office/drawing/2014/main" val="20004"/>
                    </a:ext>
                  </a:extLst>
                </a:gridCol>
                <a:gridCol w="2059940">
                  <a:extLst>
                    <a:ext uri="{9D8B030D-6E8A-4147-A177-3AD203B41FA5}">
                      <a16:colId xmlns:a16="http://schemas.microsoft.com/office/drawing/2014/main" val="20005"/>
                    </a:ext>
                  </a:extLst>
                </a:gridCol>
              </a:tblGrid>
              <a:tr h="411480">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Model</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BMSY</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Status</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OFL (total)</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MMB terminal</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Notes</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41148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25.3</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180.06</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0.88</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44.29</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137.46</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2025 model</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26.1</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172.67</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0.96</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43.83</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123.09</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1A1A1A"/>
                          </a:solidFill>
                          <a:latin typeface="Calibri" pitchFamily="34" charset="0"/>
                          <a:ea typeface="Calibri" pitchFamily="34" charset="-122"/>
                          <a:cs typeface="Calibri" pitchFamily="34" charset="-120"/>
                        </a:rPr>
                        <a:t>May baseline.</a:t>
                      </a:r>
                      <a:endParaRPr lang="en-US" sz="1800" dirty="0">
                        <a:solidFill>
                          <a:schemeClr val="tx1"/>
                        </a:solidFill>
                        <a:latin typeface="Calibri" charset="0"/>
                        <a:ea typeface="Calibri" pitchFamily="34" charset="-122"/>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1A1A1A"/>
                          </a:solidFill>
                          <a:latin typeface="Calibri" pitchFamily="34" charset="0"/>
                          <a:ea typeface="Calibri" pitchFamily="34" charset="-122"/>
                          <a:cs typeface="Calibri" pitchFamily="34" charset="-120"/>
                        </a:rPr>
                        <a:t>Jitter moved OFL 50.27 to 43.83</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41148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26.1a</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158.70</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0.81</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53.70</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106.65</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Data fixes alone</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26.1b</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144.06</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1.29</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82.46</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137.44</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New data</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r h="41148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26.1c</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161.29</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1.05</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147.28</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86.90</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OFL not comparable (2019 data)</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26.2</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130.47</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1.20</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74.03</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112.33</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800" dirty="0">
                          <a:solidFill>
                            <a:srgbClr val="1A1A1A"/>
                          </a:solidFill>
                          <a:latin typeface="Calibri" pitchFamily="34" charset="0"/>
                          <a:ea typeface="Calibri" pitchFamily="34" charset="-122"/>
                          <a:cs typeface="Calibri" pitchFamily="34" charset="-120"/>
                        </a:rPr>
                        <a:t>Male-only</a:t>
                      </a:r>
                      <a:endParaRPr lang="en-US" sz="18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411480" y="4894580"/>
            <a:ext cx="1115568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Tier 3 OFLs range 43.8 to 147.3 kt across the set, compared to a Tier 4 OFL of 16.98 kt</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The extra year of data, not structure, moves 26.1b above status 1</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Convergence: what jittering shows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29</a:t>
            </a:r>
            <a:endParaRPr lang="en-US" sz="800" dirty="0"/>
          </a:p>
        </p:txBody>
      </p:sp>
      <p:sp>
        <p:nvSpPr>
          <p:cNvPr id="7" name="Text 4"/>
          <p:cNvSpPr txBox="1"/>
          <p:nvPr/>
        </p:nvSpPr>
        <p:spPr>
          <a:xfrm>
            <a:off x="411480" y="914400"/>
            <a:ext cx="5849620" cy="5394960"/>
          </a:xfrm>
          <a:prstGeom prst="rect">
            <a:avLst/>
          </a:prstGeom>
          <a:noFill/>
          <a:ln/>
        </p:spPr>
        <p:txBody>
          <a:bodyPr wrap="square" rtlCol="0" anchor="t"/>
          <a:lstStyle/>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100 jitters. A run counts as converged when its maximum gradient falls below 0.01, which 78 of the 100 runs met for Model 26.1b</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Converged runs were clustered based on their likelihood (cut at 0.01). A cluster of 3 or more runs was considered a distinct minimum and was labeled A to F from the best fit to the worst</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Run in a cluster of 1 or 2 were considered “minor”, so a single stray run cannot pass as a minimum. </a:t>
            </a:r>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Model 26.1b: 6 minima across 28 runs, 50 converged runs were minor and 22 did not converge. Only 1 of the 78 converged runs reached the best fit</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Likelihood separation is small, but management quantities differ materially across minima </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For example, in Model 26.1 a solution 1.27 units better moved the OFL from 50.27 to 43.83 kt</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Model 26.2 (male-only): 15.2% of runs reach the minimum, the most promising direction this cycle</a:t>
            </a:r>
            <a:endParaRPr lang="en-US" sz="1400" dirty="0"/>
          </a:p>
        </p:txBody>
      </p:sp>
      <p:pic>
        <p:nvPicPr>
          <p:cNvPr id="8" name="Image 1" descr="/tmp/deck/media/jitter_ofl.png"/>
          <p:cNvPicPr>
            <a:picLocks noChangeAspect="1"/>
          </p:cNvPicPr>
          <p:nvPr/>
        </p:nvPicPr>
        <p:blipFill>
          <a:blip r:embed="rId4"/>
          <a:stretch>
            <a:fillRect/>
          </a:stretch>
        </p:blipFill>
        <p:spPr>
          <a:xfrm>
            <a:off x="6461404" y="870000"/>
            <a:ext cx="5277192" cy="4700000"/>
          </a:xfrm>
          <a:prstGeom prst="rect">
            <a:avLst/>
          </a:prstGeom>
        </p:spPr>
      </p:pic>
      <p:sp>
        <p:nvSpPr>
          <p:cNvPr id="9" name="Text 5"/>
          <p:cNvSpPr txBox="1"/>
          <p:nvPr/>
        </p:nvSpPr>
        <p:spPr>
          <a:xfrm>
            <a:off x="5920000" y="5630000"/>
            <a:ext cx="63600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Directed OFL across 100 jitter runs of Model 26.1b.</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Which parameters separate the minima</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30</a:t>
            </a:r>
            <a:endParaRPr lang="en-US" sz="800" dirty="0"/>
          </a:p>
        </p:txBody>
      </p:sp>
      <p:sp>
        <p:nvSpPr>
          <p:cNvPr id="7" name="Text 4"/>
          <p:cNvSpPr txBox="1"/>
          <p:nvPr/>
        </p:nvSpPr>
        <p:spPr>
          <a:xfrm>
            <a:off x="411480" y="914400"/>
            <a:ext cx="5760720" cy="5394960"/>
          </a:xfrm>
          <a:prstGeom prst="rect">
            <a:avLst/>
          </a:prstGeom>
          <a:noFill/>
          <a:ln/>
        </p:spPr>
        <p:txBody>
          <a:bodyPr wrap="square" rtlCol="0" anchor="t"/>
          <a:lstStyle/>
          <a:p>
            <a:pPr marL="152400" indent="-152400" algn="l">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Jitter runs cluster into 6 minima, labeled A to F from the best fit to the worst. The figure compares A against F, the 2 ends of that range</a:t>
            </a:r>
            <a:endParaRPr lang="en-US" sz="1450" dirty="0"/>
          </a:p>
          <a:p>
            <a:pPr marL="152400" indent="-152400" algn="l">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Standardized difference = (mean parameter value in A minus the mean in F) divided by that parameter’s SD across all 100 runs. Z-scaled, so parameters of different magnitudes can be compared</a:t>
            </a:r>
            <a:endParaRPr lang="en-US" sz="1450" dirty="0"/>
          </a:p>
          <a:p>
            <a:pPr marL="152400" indent="-152400" algn="l">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Selectivity dominates: 11 of the 15 largest differences are selectivity parameters. The rest are natural mortality, a fishing mortality offset and the recruitment scale</a:t>
            </a:r>
          </a:p>
          <a:p>
            <a:pPr marL="152400" indent="-152400" algn="l">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Movement is the range across the 31 runs within 2 likelihood units of the best fit, summed by parameter type. Female and sex-allocation parameters account for 64% of it, which is why removing the females improves convergence.</a:t>
            </a:r>
            <a:endParaRPr lang="en-US" sz="1450" dirty="0"/>
          </a:p>
          <a:p>
            <a:pPr marL="152400" indent="-152400" algn="l">
              <a:spcAft>
                <a:spcPts val="800"/>
              </a:spcAft>
              <a:buSzPct val="100000"/>
              <a:buChar char="•"/>
            </a:pPr>
            <a:r>
              <a:rPr lang="en-US" sz="1450" dirty="0">
                <a:solidFill>
                  <a:srgbClr val="1A1A1A"/>
                </a:solidFill>
                <a:latin typeface="Calibri" pitchFamily="34" charset="0"/>
                <a:ea typeface="Calibri" pitchFamily="34" charset="-122"/>
                <a:cs typeface="Calibri" pitchFamily="34" charset="-120"/>
              </a:rPr>
              <a:t>The 2019 immature-female M deviation is not identifiable</a:t>
            </a:r>
            <a:endParaRPr lang="en-US" sz="1450" dirty="0"/>
          </a:p>
        </p:txBody>
      </p:sp>
      <p:pic>
        <p:nvPicPr>
          <p:cNvPr id="8" name="Image 1" descr="/tmp/deck/media/jitt_attrib.png"/>
          <p:cNvPicPr>
            <a:picLocks noChangeAspect="1"/>
          </p:cNvPicPr>
          <p:nvPr/>
        </p:nvPicPr>
        <p:blipFill>
          <a:blip r:embed="rId4"/>
          <a:stretch>
            <a:fillRect/>
          </a:stretch>
        </p:blipFill>
        <p:spPr>
          <a:xfrm>
            <a:off x="6355080" y="868680"/>
            <a:ext cx="5486400" cy="4389120"/>
          </a:xfrm>
          <a:prstGeom prst="rect">
            <a:avLst/>
          </a:prstGeom>
        </p:spPr>
      </p:pic>
      <p:sp>
        <p:nvSpPr>
          <p:cNvPr id="9" name="Text 5"/>
          <p:cNvSpPr txBox="1"/>
          <p:nvPr/>
        </p:nvSpPr>
        <p:spPr>
          <a:xfrm>
            <a:off x="6355080" y="5330952"/>
            <a:ext cx="54864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Parameters that most separate the jitter minima.</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Model fits to survey biomass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31</a:t>
            </a:r>
            <a:endParaRPr lang="en-US" sz="800" dirty="0"/>
          </a:p>
        </p:txBody>
      </p:sp>
      <p:pic>
        <p:nvPicPr>
          <p:cNvPr id="7" name="Image 1" descr="/tmp/deck/media/mmbfits.png"/>
          <p:cNvPicPr>
            <a:picLocks noChangeAspect="1"/>
          </p:cNvPicPr>
          <p:nvPr/>
        </p:nvPicPr>
        <p:blipFill>
          <a:blip r:embed="rId4"/>
          <a:stretch>
            <a:fillRect/>
          </a:stretch>
        </p:blipFill>
        <p:spPr>
          <a:xfrm>
            <a:off x="1958136" y="914400"/>
            <a:ext cx="8275727" cy="5055600"/>
          </a:xfrm>
          <a:prstGeom prst="rect">
            <a:avLst/>
          </a:prstGeom>
        </p:spPr>
      </p:pic>
      <p:sp>
        <p:nvSpPr>
          <p:cNvPr id="8" name="Text 4"/>
          <p:cNvSpPr txBox="1"/>
          <p:nvPr/>
        </p:nvSpPr>
        <p:spPr>
          <a:xfrm>
            <a:off x="1958136" y="6010000"/>
            <a:ext cx="8275727"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Model fits to observed mature biomass at survey (1,000 t), for the 5 models fitted under GMACS 2.20.34.</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2"/>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Model fits to catch</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32</a:t>
            </a:r>
            <a:endParaRPr lang="en-US" sz="800" dirty="0"/>
          </a:p>
        </p:txBody>
      </p:sp>
      <p:pic>
        <p:nvPicPr>
          <p:cNvPr id="9" name="Image 2" descr="/tmp/deck/media/catchfits.png"/>
          <p:cNvPicPr>
            <a:picLocks noChangeAspect="1"/>
          </p:cNvPicPr>
          <p:nvPr/>
        </p:nvPicPr>
        <p:blipFill>
          <a:blip r:embed="rId3"/>
          <a:stretch>
            <a:fillRect/>
          </a:stretch>
        </p:blipFill>
        <p:spPr>
          <a:xfrm>
            <a:off x="3520841" y="914400"/>
            <a:ext cx="5150318" cy="5055600"/>
          </a:xfrm>
          <a:prstGeom prst="rect">
            <a:avLst/>
          </a:prstGeom>
        </p:spPr>
      </p:pic>
      <p:sp>
        <p:nvSpPr>
          <p:cNvPr id="10" name="Text 5"/>
          <p:cNvSpPr txBox="1"/>
          <p:nvPr/>
        </p:nvSpPr>
        <p:spPr>
          <a:xfrm>
            <a:off x="2020841" y="6010000"/>
            <a:ext cx="8150318"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Model fits to catch data (1,000 t), for all models presented.</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Estimated natural mortality</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33</a:t>
            </a:r>
            <a:endParaRPr lang="en-US" sz="800" dirty="0"/>
          </a:p>
        </p:txBody>
      </p:sp>
      <p:pic>
        <p:nvPicPr>
          <p:cNvPr id="7" name="Image 1" descr="/tmp/deck/media/nat_m.png"/>
          <p:cNvPicPr>
            <a:picLocks noChangeAspect="1"/>
          </p:cNvPicPr>
          <p:nvPr/>
        </p:nvPicPr>
        <p:blipFill>
          <a:blip r:embed="rId4"/>
          <a:stretch>
            <a:fillRect/>
          </a:stretch>
        </p:blipFill>
        <p:spPr>
          <a:xfrm>
            <a:off x="426720" y="1467096"/>
            <a:ext cx="11338560" cy="3950208"/>
          </a:xfrm>
          <a:prstGeom prst="rect">
            <a:avLst/>
          </a:prstGeom>
        </p:spPr>
      </p:pic>
      <p:sp>
        <p:nvSpPr>
          <p:cNvPr id="8" name="Text 4"/>
          <p:cNvSpPr txBox="1"/>
          <p:nvPr/>
        </p:nvSpPr>
        <p:spPr>
          <a:xfrm>
            <a:off x="426720" y="5477304"/>
            <a:ext cx="1133856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Estimated natural mortality (per year) by sex and maturity state. Years before 2018 and after 2019 are held at the estimated 2017 value. The y-axis is capped at 5.</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2"/>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Estimated recruitment</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34</a:t>
            </a:r>
            <a:endParaRPr lang="en-US" sz="800" dirty="0"/>
          </a:p>
        </p:txBody>
      </p:sp>
      <p:pic>
        <p:nvPicPr>
          <p:cNvPr id="9" name="Image 2" descr="/tmp/deck/media/recruits.png"/>
          <p:cNvPicPr>
            <a:picLocks noChangeAspect="1"/>
          </p:cNvPicPr>
          <p:nvPr/>
        </p:nvPicPr>
        <p:blipFill>
          <a:blip r:embed="rId3"/>
          <a:stretch>
            <a:fillRect/>
          </a:stretch>
        </p:blipFill>
        <p:spPr>
          <a:xfrm>
            <a:off x="426720" y="1467096"/>
            <a:ext cx="11338560" cy="3950208"/>
          </a:xfrm>
          <a:prstGeom prst="rect">
            <a:avLst/>
          </a:prstGeom>
        </p:spPr>
      </p:pic>
      <p:sp>
        <p:nvSpPr>
          <p:cNvPr id="10" name="Text 5"/>
          <p:cNvSpPr txBox="1"/>
          <p:nvPr/>
        </p:nvSpPr>
        <p:spPr>
          <a:xfrm>
            <a:off x="426720" y="5477304"/>
            <a:ext cx="1133856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Estimated recruitment by sex (billions of crab), for all models presented.</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Preferred-male abundance: models vs survey</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35</a:t>
            </a:r>
            <a:endParaRPr lang="en-US" sz="800" dirty="0"/>
          </a:p>
        </p:txBody>
      </p:sp>
      <p:sp>
        <p:nvSpPr>
          <p:cNvPr id="7" name="Text 4"/>
          <p:cNvSpPr txBox="1"/>
          <p:nvPr/>
        </p:nvSpPr>
        <p:spPr>
          <a:xfrm>
            <a:off x="411480" y="870000"/>
            <a:ext cx="11338560" cy="100000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All models agree recent preferred-male abundance is the lowest in the series</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Early years, when survey selectivity differed, are the most variable across models</a:t>
            </a:r>
            <a:endParaRPr lang="en-US" sz="1750" dirty="0"/>
          </a:p>
        </p:txBody>
      </p:sp>
      <p:pic>
        <p:nvPicPr>
          <p:cNvPr id="8" name="Image 1" descr="/tmp/deck/media/obs101_abund.png"/>
          <p:cNvPicPr>
            <a:picLocks noChangeAspect="1"/>
          </p:cNvPicPr>
          <p:nvPr/>
        </p:nvPicPr>
        <p:blipFill>
          <a:blip r:embed="rId4"/>
          <a:stretch>
            <a:fillRect/>
          </a:stretch>
        </p:blipFill>
        <p:spPr>
          <a:xfrm>
            <a:off x="723232" y="1950000"/>
            <a:ext cx="10745535" cy="4150000"/>
          </a:xfrm>
          <a:prstGeom prst="rect">
            <a:avLst/>
          </a:prstGeom>
        </p:spPr>
      </p:pic>
      <p:sp>
        <p:nvSpPr>
          <p:cNvPr id="9" name="Text 5"/>
          <p:cNvSpPr txBox="1"/>
          <p:nvPr/>
        </p:nvSpPr>
        <p:spPr>
          <a:xfrm>
            <a:off x="723232" y="6150000"/>
            <a:ext cx="10745535" cy="330000"/>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Abundance of males &gt; 101 mm: survey observations (black, with 95% CI) against each model.</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Retrospective analyses (Model 26.1b)</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36</a:t>
            </a:r>
            <a:endParaRPr lang="en-US" sz="800" dirty="0"/>
          </a:p>
        </p:txBody>
      </p:sp>
      <p:sp>
        <p:nvSpPr>
          <p:cNvPr id="7" name="Text 4"/>
          <p:cNvSpPr txBox="1"/>
          <p:nvPr/>
        </p:nvSpPr>
        <p:spPr>
          <a:xfrm>
            <a:off x="411480" y="850000"/>
            <a:ext cx="11338560" cy="1350000"/>
          </a:xfrm>
          <a:prstGeom prst="rect">
            <a:avLst/>
          </a:prstGeom>
          <a:noFill/>
          <a:ln/>
        </p:spPr>
        <p:txBody>
          <a:bodyPr wrap="square" rtlCol="0" anchor="t"/>
          <a:lstStyle/>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10 peels, terminal years 2024 back to 2015. Mature male biomass rho = -0.11 (-0.11 with the terminal survey dropped), </a:t>
            </a:r>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Peels sit below the full model, so terminal biomass tends to be revised upward with new years of data. </a:t>
            </a:r>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Male recruitment rho = 8.1 so terminal recruitment is unreliable. </a:t>
            </a:r>
            <a:endParaRPr lang="en-US" sz="1700" dirty="0"/>
          </a:p>
        </p:txBody>
      </p:sp>
      <p:pic>
        <p:nvPicPr>
          <p:cNvPr id="8" name="Image 1" descr="/tmp/deck/media/retro_mmb.png"/>
          <p:cNvPicPr>
            <a:picLocks noChangeAspect="1"/>
          </p:cNvPicPr>
          <p:nvPr/>
        </p:nvPicPr>
        <p:blipFill>
          <a:blip r:embed="rId4"/>
          <a:stretch>
            <a:fillRect/>
          </a:stretch>
        </p:blipFill>
        <p:spPr>
          <a:xfrm>
            <a:off x="1040444" y="2250000"/>
            <a:ext cx="10111111" cy="4200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Historical analysis: revisions across assessments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37</a:t>
            </a:r>
            <a:endParaRPr lang="en-US" sz="800" dirty="0"/>
          </a:p>
        </p:txBody>
      </p:sp>
      <p:sp>
        <p:nvSpPr>
          <p:cNvPr id="7" name="Text 4"/>
          <p:cNvSpPr txBox="1"/>
          <p:nvPr/>
        </p:nvSpPr>
        <p:spPr>
          <a:xfrm>
            <a:off x="411480" y="914400"/>
            <a:ext cx="57607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Revisions across accepted assessments dwarf the within-model pattern</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2020 biomass: 486.5 kt (2020 assessment), 40.95 kt (2021), 19.1 kt at mating (2022), 205.4 kt (2023)</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2018 shows the same pattern without a collapse: mature male biomass at mating was 111.4 kt in the 2019 assessment, 71.2 kt in 2021 and 188.5 kt in 2025</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Main suspects: treatment of terminal molt and BSFRF selectivity priors, maturity definition used, and no 2020 survey</a:t>
            </a:r>
            <a:endParaRPr lang="en-US" sz="1750" dirty="0"/>
          </a:p>
        </p:txBody>
      </p:sp>
      <p:pic>
        <p:nvPicPr>
          <p:cNvPr id="8" name="Image 1" descr="/tmp/deck/media/historical_mmb.png"/>
          <p:cNvPicPr>
            <a:picLocks noChangeAspect="1"/>
          </p:cNvPicPr>
          <p:nvPr/>
        </p:nvPicPr>
        <p:blipFill>
          <a:blip r:embed="rId4"/>
          <a:stretch>
            <a:fillRect/>
          </a:stretch>
        </p:blipFill>
        <p:spPr>
          <a:xfrm>
            <a:off x="6400800" y="822960"/>
            <a:ext cx="5486400" cy="4553712"/>
          </a:xfrm>
          <a:prstGeom prst="rect">
            <a:avLst/>
          </a:prstGeom>
        </p:spPr>
      </p:pic>
      <p:sp>
        <p:nvSpPr>
          <p:cNvPr id="9" name="Text 5"/>
          <p:cNvSpPr txBox="1"/>
          <p:nvPr/>
        </p:nvSpPr>
        <p:spPr>
          <a:xfrm>
            <a:off x="6400800" y="5449824"/>
            <a:ext cx="54864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MMB as seen by each accepted Tier 3 assessment, 2016-2025.</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2"/>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The 2019-truncated model (Model 26.1c)</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39</a:t>
            </a:r>
            <a:endParaRPr lang="en-US" sz="800" dirty="0"/>
          </a:p>
        </p:txBody>
      </p:sp>
      <p:sp>
        <p:nvSpPr>
          <p:cNvPr id="7" name="Text 4"/>
          <p:cNvSpPr txBox="1"/>
          <p:nvPr/>
        </p:nvSpPr>
        <p:spPr>
          <a:xfrm>
            <a:off x="411480" y="914400"/>
            <a:ext cx="6309360" cy="5394960"/>
          </a:xfrm>
          <a:prstGeom prst="rect">
            <a:avLst/>
          </a:prstGeom>
          <a:noFill/>
          <a:ln/>
        </p:spPr>
        <p:txBody>
          <a:bodyPr wrap="square" rtlCol="0" anchor="t"/>
          <a:lstStyle/>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Model 26.1b truncated to 2019, the diagnostic the CPT requested to test whether the post-collapse data and the missing 2020 survey drive the convergence problems</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Truncating did not resolve the problem. The 2019 model converges more often (89 of 100 runs, 12 meeting the conventional 0.001 gradient) but settles into 10 distinct minima instead of 6</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Only 1.1% of its converged runs recover the best fit, against 1.3% for the full model. The absence of the 2020 survey is not the source of the multimodality</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Retrospective pattern differs in sign rather than size: MMB rho is +0.06 against -0.11 for 26.1b, so terminal biomass is revised down as data accumulate. Recruitment rho is 4.6 against 8.1</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With 386 parameters against 412, it also shows the multimodality is not driven by parameter count alone: fewer parameters, more minima</a:t>
            </a:r>
            <a:endParaRPr lang="en-US" sz="1700" dirty="0"/>
          </a:p>
        </p:txBody>
      </p:sp>
      <p:sp>
        <p:nvSpPr>
          <p:cNvPr id="8" name="Shape 5"/>
          <p:cNvSpPr/>
          <p:nvPr/>
        </p:nvSpPr>
        <p:spPr>
          <a:xfrm>
            <a:off x="6967728" y="105156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9" name="Text 6"/>
          <p:cNvSpPr txBox="1"/>
          <p:nvPr/>
        </p:nvSpPr>
        <p:spPr>
          <a:xfrm>
            <a:off x="6967728" y="116128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+0.06</a:t>
            </a:r>
            <a:endParaRPr lang="en-US" sz="3200" dirty="0"/>
          </a:p>
        </p:txBody>
      </p:sp>
      <p:sp>
        <p:nvSpPr>
          <p:cNvPr id="10" name="Text 7"/>
          <p:cNvSpPr txBox="1"/>
          <p:nvPr/>
        </p:nvSpPr>
        <p:spPr>
          <a:xfrm>
            <a:off x="7059168" y="192024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MMB Mohn's rho (26.1b: -0.11)</a:t>
            </a:r>
            <a:endParaRPr lang="en-US" sz="1350" dirty="0"/>
          </a:p>
        </p:txBody>
      </p:sp>
      <p:sp>
        <p:nvSpPr>
          <p:cNvPr id="11" name="Shape 8"/>
          <p:cNvSpPr/>
          <p:nvPr/>
        </p:nvSpPr>
        <p:spPr>
          <a:xfrm>
            <a:off x="9528048" y="105156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2" name="Text 9"/>
          <p:cNvSpPr txBox="1"/>
          <p:nvPr/>
        </p:nvSpPr>
        <p:spPr>
          <a:xfrm>
            <a:off x="9528048" y="1161288"/>
            <a:ext cx="2487168" cy="777240"/>
          </a:xfrm>
          <a:prstGeom prst="rect">
            <a:avLst/>
          </a:prstGeom>
          <a:noFill/>
          <a:ln/>
        </p:spPr>
        <p:txBody>
          <a:bodyPr wrap="square" lIns="0" tIns="0" rIns="0" bIns="0" rtlCol="0" anchor="ctr"/>
          <a:lstStyle/>
          <a:p>
            <a:pPr marL="0" indent="0" algn="ctr">
              <a:buNone/>
            </a:pPr>
            <a:r>
              <a:rPr lang="en-US" sz="3200" b="1" dirty="0">
                <a:solidFill>
                  <a:srgbClr val="B33636"/>
                </a:solidFill>
                <a:latin typeface="Calibri" pitchFamily="34" charset="0"/>
                <a:ea typeface="Calibri" pitchFamily="34" charset="-122"/>
                <a:cs typeface="Calibri" pitchFamily="34" charset="-120"/>
              </a:rPr>
              <a:t>4.6</a:t>
            </a:r>
            <a:endParaRPr lang="en-US" sz="3200" dirty="0"/>
          </a:p>
        </p:txBody>
      </p:sp>
      <p:sp>
        <p:nvSpPr>
          <p:cNvPr id="13" name="Text 10"/>
          <p:cNvSpPr txBox="1"/>
          <p:nvPr/>
        </p:nvSpPr>
        <p:spPr>
          <a:xfrm>
            <a:off x="9619488" y="192024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Male recruitment rho (26.1b: 8.1)</a:t>
            </a:r>
            <a:endParaRPr lang="en-US" sz="1350" dirty="0"/>
          </a:p>
        </p:txBody>
      </p:sp>
      <p:sp>
        <p:nvSpPr>
          <p:cNvPr id="14" name="Shape 11"/>
          <p:cNvSpPr/>
          <p:nvPr/>
        </p:nvSpPr>
        <p:spPr>
          <a:xfrm>
            <a:off x="6967728" y="269748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5" name="Text 12"/>
          <p:cNvSpPr txBox="1"/>
          <p:nvPr/>
        </p:nvSpPr>
        <p:spPr>
          <a:xfrm>
            <a:off x="6967728" y="280720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89%</a:t>
            </a:r>
            <a:endParaRPr lang="en-US" sz="3200" dirty="0"/>
          </a:p>
        </p:txBody>
      </p:sp>
      <p:sp>
        <p:nvSpPr>
          <p:cNvPr id="16" name="Text 13"/>
          <p:cNvSpPr txBox="1"/>
          <p:nvPr/>
        </p:nvSpPr>
        <p:spPr>
          <a:xfrm>
            <a:off x="7059168" y="356616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Runs converged of 100 (26.1b: 78%)</a:t>
            </a:r>
            <a:endParaRPr lang="en-US" sz="1350" dirty="0"/>
          </a:p>
        </p:txBody>
      </p:sp>
      <p:sp>
        <p:nvSpPr>
          <p:cNvPr id="17" name="Shape 14"/>
          <p:cNvSpPr/>
          <p:nvPr/>
        </p:nvSpPr>
        <p:spPr>
          <a:xfrm>
            <a:off x="9528048" y="269748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8" name="Text 15"/>
          <p:cNvSpPr txBox="1"/>
          <p:nvPr/>
        </p:nvSpPr>
        <p:spPr>
          <a:xfrm>
            <a:off x="9528048" y="280720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1.1%</a:t>
            </a:r>
            <a:endParaRPr lang="en-US" sz="3200" dirty="0"/>
          </a:p>
        </p:txBody>
      </p:sp>
      <p:sp>
        <p:nvSpPr>
          <p:cNvPr id="19" name="Text 16"/>
          <p:cNvSpPr txBox="1"/>
          <p:nvPr/>
        </p:nvSpPr>
        <p:spPr>
          <a:xfrm>
            <a:off x="9619488" y="356616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Converged runs at the best fit (26.1b: 1.3%)</a:t>
            </a:r>
            <a:endParaRPr lang="en-US" sz="1350" dirty="0"/>
          </a:p>
        </p:txBody>
      </p:sp>
      <p:sp>
        <p:nvSpPr>
          <p:cNvPr id="20" name="Text 17"/>
          <p:cNvSpPr txBox="1"/>
          <p:nvPr/>
        </p:nvSpPr>
        <p:spPr>
          <a:xfrm>
            <a:off x="6967728" y="4343400"/>
            <a:ext cx="5029200" cy="548640"/>
          </a:xfrm>
          <a:prstGeom prst="rect">
            <a:avLst/>
          </a:prstGeom>
          <a:noFill/>
          <a:ln/>
        </p:spPr>
        <p:txBody>
          <a:bodyPr wrap="square" lIns="0" tIns="0" rIns="0" bIns="0" rtlCol="0" anchor="ctr"/>
          <a:lstStyle/>
          <a:p>
            <a:pPr marL="0" indent="0">
              <a:buNone/>
            </a:pPr>
            <a:r>
              <a:rPr lang="en-US" sz="1350" i="1" dirty="0">
                <a:solidFill>
                  <a:srgbClr val="5A6771"/>
                </a:solidFill>
                <a:latin typeface="Calibri" pitchFamily="34" charset="0"/>
                <a:ea typeface="Calibri" pitchFamily="34" charset="-122"/>
                <a:cs typeface="Calibri" pitchFamily="34" charset="-120"/>
              </a:rPr>
              <a:t>Full jitter diagnostics for Model 26.1c are in Appendix B. Its reference points span a different period, so its OFL is not comparable with the other models.</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The male-only model (Model 26.2)</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38</a:t>
            </a:r>
            <a:endParaRPr lang="en-US" sz="800" dirty="0"/>
          </a:p>
        </p:txBody>
      </p:sp>
      <p:sp>
        <p:nvSpPr>
          <p:cNvPr id="7" name="Text 4"/>
          <p:cNvSpPr txBox="1"/>
          <p:nvPr/>
        </p:nvSpPr>
        <p:spPr>
          <a:xfrm>
            <a:off x="411480" y="914400"/>
            <a:ext cx="6309360" cy="5394960"/>
          </a:xfrm>
          <a:prstGeom prst="rect">
            <a:avLst/>
          </a:prstGeom>
          <a:noFill/>
          <a:ln/>
        </p:spPr>
        <p:txBody>
          <a:bodyPr wrap="square" rtlCol="0" anchor="t"/>
          <a:lstStyle/>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Removes the female population entirely: 412 to 234 parameters</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15.2% of jitter runs recover the accepted fit against 1.3% for the two-sex model, and the Hessian is much better conditioned</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Male recruitment rho drops from 8.1 to 0.76</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Caveat: immature-male M offset at its bound. The implied mortality should not enter a specification model without examination</a:t>
            </a:r>
            <a:endParaRPr lang="en-US" sz="1700" dirty="0"/>
          </a:p>
          <a:p>
            <a:pPr marL="152400" indent="-152400" algn="l">
              <a:spcAft>
                <a:spcPts val="800"/>
              </a:spcAft>
              <a:buSzPct val="100000"/>
              <a:buChar char="•"/>
            </a:pPr>
            <a:r>
              <a:rPr lang="en-US" sz="1700" dirty="0">
                <a:solidFill>
                  <a:srgbClr val="1A1A1A"/>
                </a:solidFill>
                <a:latin typeface="Calibri" pitchFamily="34" charset="0"/>
                <a:ea typeface="Calibri" pitchFamily="34" charset="-122"/>
                <a:cs typeface="Calibri" pitchFamily="34" charset="-120"/>
              </a:rPr>
              <a:t>Appendix B tests 3 pathologies found in the accepted model: a non-identified 2019 immature-female M deviation, a weakly penalized recruitment sex ratio, and an unpenalized level for the 1982 initial numbers at length. Fixing the first 2 (26.d1), replacing the third with an equilibrium backbone (26.d3), and doing all 3 at once (26.d4) left the multimodality in place. Applying the equilibrium backbone to the male-only model (26.d5) helped.</a:t>
            </a:r>
            <a:endParaRPr lang="en-US" sz="1700" dirty="0"/>
          </a:p>
        </p:txBody>
      </p:sp>
      <p:sp>
        <p:nvSpPr>
          <p:cNvPr id="8" name="Shape 5"/>
          <p:cNvSpPr/>
          <p:nvPr/>
        </p:nvSpPr>
        <p:spPr>
          <a:xfrm>
            <a:off x="6967728" y="105156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9" name="Text 6"/>
          <p:cNvSpPr txBox="1"/>
          <p:nvPr/>
        </p:nvSpPr>
        <p:spPr>
          <a:xfrm>
            <a:off x="6967728" y="116128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-0.09</a:t>
            </a:r>
            <a:endParaRPr lang="en-US" sz="3200" dirty="0"/>
          </a:p>
        </p:txBody>
      </p:sp>
      <p:sp>
        <p:nvSpPr>
          <p:cNvPr id="10" name="Text 7"/>
          <p:cNvSpPr txBox="1"/>
          <p:nvPr/>
        </p:nvSpPr>
        <p:spPr>
          <a:xfrm>
            <a:off x="7059168" y="192024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MMB Mohn's rho (26.1b: -0.11)</a:t>
            </a:r>
            <a:endParaRPr lang="en-US" sz="1350" dirty="0"/>
          </a:p>
        </p:txBody>
      </p:sp>
      <p:sp>
        <p:nvSpPr>
          <p:cNvPr id="11" name="Shape 8"/>
          <p:cNvSpPr/>
          <p:nvPr/>
        </p:nvSpPr>
        <p:spPr>
          <a:xfrm>
            <a:off x="9528048" y="105156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2" name="Text 9"/>
          <p:cNvSpPr txBox="1"/>
          <p:nvPr/>
        </p:nvSpPr>
        <p:spPr>
          <a:xfrm>
            <a:off x="9528048" y="1161288"/>
            <a:ext cx="2487168" cy="777240"/>
          </a:xfrm>
          <a:prstGeom prst="rect">
            <a:avLst/>
          </a:prstGeom>
          <a:noFill/>
          <a:ln/>
        </p:spPr>
        <p:txBody>
          <a:bodyPr wrap="square" lIns="0" tIns="0" rIns="0" bIns="0" rtlCol="0" anchor="ctr"/>
          <a:lstStyle/>
          <a:p>
            <a:pPr marL="0" indent="0" algn="ctr">
              <a:buNone/>
            </a:pPr>
            <a:r>
              <a:rPr lang="en-US" sz="3200" b="1" dirty="0">
                <a:solidFill>
                  <a:srgbClr val="B33636"/>
                </a:solidFill>
                <a:latin typeface="Calibri" pitchFamily="34" charset="0"/>
                <a:ea typeface="Calibri" pitchFamily="34" charset="-122"/>
                <a:cs typeface="Calibri" pitchFamily="34" charset="-120"/>
              </a:rPr>
              <a:t>0.76</a:t>
            </a:r>
            <a:endParaRPr lang="en-US" sz="3200" dirty="0"/>
          </a:p>
        </p:txBody>
      </p:sp>
      <p:sp>
        <p:nvSpPr>
          <p:cNvPr id="13" name="Text 10"/>
          <p:cNvSpPr txBox="1"/>
          <p:nvPr/>
        </p:nvSpPr>
        <p:spPr>
          <a:xfrm>
            <a:off x="9619488" y="192024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Male recruitment rho (26.1b: 8.1)</a:t>
            </a:r>
            <a:endParaRPr lang="en-US" sz="1350" dirty="0"/>
          </a:p>
        </p:txBody>
      </p:sp>
      <p:sp>
        <p:nvSpPr>
          <p:cNvPr id="14" name="Shape 11"/>
          <p:cNvSpPr/>
          <p:nvPr/>
        </p:nvSpPr>
        <p:spPr>
          <a:xfrm>
            <a:off x="6967728" y="269748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5" name="Text 12"/>
          <p:cNvSpPr txBox="1"/>
          <p:nvPr/>
        </p:nvSpPr>
        <p:spPr>
          <a:xfrm>
            <a:off x="6967728" y="280720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79%</a:t>
            </a:r>
            <a:endParaRPr lang="en-US" sz="3200" dirty="0"/>
          </a:p>
        </p:txBody>
      </p:sp>
      <p:sp>
        <p:nvSpPr>
          <p:cNvPr id="16" name="Text 13"/>
          <p:cNvSpPr txBox="1"/>
          <p:nvPr/>
        </p:nvSpPr>
        <p:spPr>
          <a:xfrm>
            <a:off x="7059168" y="356616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Runs converged of 100 (26.1b: 78%)</a:t>
            </a:r>
            <a:endParaRPr lang="en-US" sz="1350" dirty="0"/>
          </a:p>
        </p:txBody>
      </p:sp>
      <p:sp>
        <p:nvSpPr>
          <p:cNvPr id="17" name="Shape 14"/>
          <p:cNvSpPr/>
          <p:nvPr/>
        </p:nvSpPr>
        <p:spPr>
          <a:xfrm>
            <a:off x="9528048" y="2697480"/>
            <a:ext cx="2487168" cy="1417320"/>
          </a:xfrm>
          <a:prstGeom prst="roundRect">
            <a:avLst>
              <a:gd name="adj" fmla="val 5161"/>
            </a:avLst>
          </a:prstGeom>
          <a:solidFill>
            <a:srgbClr val="F4F9FA"/>
          </a:solidFill>
          <a:ln w="12700">
            <a:solidFill>
              <a:srgbClr val="D5E6E9"/>
            </a:solidFill>
            <a:prstDash val="solid"/>
          </a:ln>
        </p:spPr>
        <p:txBody>
          <a:bodyPr/>
          <a:lstStyle/>
          <a:p>
            <a:endParaRPr lang="en-US"/>
          </a:p>
        </p:txBody>
      </p:sp>
      <p:sp>
        <p:nvSpPr>
          <p:cNvPr id="18" name="Text 15"/>
          <p:cNvSpPr txBox="1"/>
          <p:nvPr/>
        </p:nvSpPr>
        <p:spPr>
          <a:xfrm>
            <a:off x="9528048" y="2807208"/>
            <a:ext cx="2487168" cy="777240"/>
          </a:xfrm>
          <a:prstGeom prst="rect">
            <a:avLst/>
          </a:prstGeom>
          <a:noFill/>
          <a:ln/>
        </p:spPr>
        <p:txBody>
          <a:bodyPr wrap="square" lIns="0" tIns="0" rIns="0" bIns="0" rtlCol="0" anchor="ctr"/>
          <a:lstStyle/>
          <a:p>
            <a:pPr marL="0" indent="0" algn="ctr">
              <a:buNone/>
            </a:pPr>
            <a:r>
              <a:rPr lang="en-US" sz="3200" b="1" dirty="0">
                <a:solidFill>
                  <a:srgbClr val="008998"/>
                </a:solidFill>
                <a:latin typeface="Calibri" pitchFamily="34" charset="0"/>
                <a:ea typeface="Calibri" pitchFamily="34" charset="-122"/>
                <a:cs typeface="Calibri" pitchFamily="34" charset="-120"/>
              </a:rPr>
              <a:t>15.2%</a:t>
            </a:r>
            <a:endParaRPr lang="en-US" sz="3200" dirty="0"/>
          </a:p>
        </p:txBody>
      </p:sp>
      <p:sp>
        <p:nvSpPr>
          <p:cNvPr id="19" name="Text 16"/>
          <p:cNvSpPr txBox="1"/>
          <p:nvPr/>
        </p:nvSpPr>
        <p:spPr>
          <a:xfrm>
            <a:off x="9619488" y="3566160"/>
            <a:ext cx="2304288" cy="502920"/>
          </a:xfrm>
          <a:prstGeom prst="rect">
            <a:avLst/>
          </a:prstGeom>
          <a:noFill/>
          <a:ln/>
        </p:spPr>
        <p:txBody>
          <a:bodyPr wrap="square" lIns="0" tIns="0" rIns="0" bIns="0" rtlCol="0" anchor="t"/>
          <a:lstStyle/>
          <a:p>
            <a:pPr marL="0" indent="0" algn="ctr">
              <a:buNone/>
            </a:pPr>
            <a:r>
              <a:rPr lang="en-US" sz="1350" dirty="0">
                <a:solidFill>
                  <a:srgbClr val="5A6771"/>
                </a:solidFill>
                <a:latin typeface="Calibri" pitchFamily="34" charset="0"/>
                <a:ea typeface="Calibri" pitchFamily="34" charset="-122"/>
                <a:cs typeface="Calibri" pitchFamily="34" charset="-120"/>
              </a:rPr>
              <a:t>Converged runs at the best fit (26.1b: 1.3%)</a:t>
            </a:r>
            <a:endParaRPr lang="en-US" sz="1350" dirty="0"/>
          </a:p>
        </p:txBody>
      </p:sp>
      <p:sp>
        <p:nvSpPr>
          <p:cNvPr id="20" name="Text 17"/>
          <p:cNvSpPr txBox="1"/>
          <p:nvPr/>
        </p:nvSpPr>
        <p:spPr>
          <a:xfrm>
            <a:off x="6967728" y="4343400"/>
            <a:ext cx="5029200" cy="548640"/>
          </a:xfrm>
          <a:prstGeom prst="rect">
            <a:avLst/>
          </a:prstGeom>
          <a:noFill/>
          <a:ln/>
        </p:spPr>
        <p:txBody>
          <a:bodyPr wrap="square" lIns="0" tIns="0" rIns="0" bIns="0" rtlCol="0" anchor="ctr"/>
          <a:lstStyle/>
          <a:p>
            <a:pPr marL="0" indent="0">
              <a:buNone/>
            </a:pPr>
            <a:r>
              <a:rPr lang="en-US" sz="1350" i="1" dirty="0">
                <a:solidFill>
                  <a:srgbClr val="5A6771"/>
                </a:solidFill>
                <a:latin typeface="Calibri" pitchFamily="34" charset="0"/>
                <a:ea typeface="Calibri" pitchFamily="34" charset="-122"/>
                <a:cs typeface="Calibri" pitchFamily="34" charset="-120"/>
              </a:rPr>
              <a:t>Full jitter diagnostics for the male-only model are in the backup slides and Appendix B.</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ABC buffer and risk table</a:t>
            </a:r>
            <a:endParaRPr lang="en-US"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ABC buffer: 20%</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41</a:t>
            </a:r>
            <a:endParaRPr lang="en-US" sz="800" dirty="0"/>
          </a:p>
        </p:txBody>
      </p:sp>
      <p:graphicFrame>
        <p:nvGraphicFramePr>
          <p:cNvPr id="38" name="Table 0"/>
          <p:cNvGraphicFramePr>
            <a:graphicFrameLocks noGrp="1"/>
          </p:cNvGraphicFramePr>
          <p:nvPr>
            <p:extLst>
              <p:ext uri="{D42A27DB-BD31-4B8C-83A1-F6EECF244321}">
                <p14:modId xmlns:p14="http://schemas.microsoft.com/office/powerpoint/2010/main" val="3321182925"/>
              </p:ext>
            </p:extLst>
          </p:nvPr>
        </p:nvGraphicFramePr>
        <p:xfrm>
          <a:off x="411480" y="960120"/>
          <a:ext cx="2636520" cy="2377440"/>
        </p:xfrm>
        <a:graphic>
          <a:graphicData uri="http://schemas.openxmlformats.org/drawingml/2006/table">
            <a:tbl>
              <a:tblPr/>
              <a:tblGrid>
                <a:gridCol w="878840">
                  <a:extLst>
                    <a:ext uri="{9D8B030D-6E8A-4147-A177-3AD203B41FA5}">
                      <a16:colId xmlns:a16="http://schemas.microsoft.com/office/drawing/2014/main" val="20000"/>
                    </a:ext>
                  </a:extLst>
                </a:gridCol>
                <a:gridCol w="1757680">
                  <a:extLst>
                    <a:ext uri="{9D8B030D-6E8A-4147-A177-3AD203B41FA5}">
                      <a16:colId xmlns:a16="http://schemas.microsoft.com/office/drawing/2014/main" val="20001"/>
                    </a:ext>
                  </a:extLst>
                </a:gridCol>
              </a:tblGrid>
              <a:tr h="365760">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Year</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SSC buffer</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36576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2021</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25%</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2022</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25%</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36576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2023</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50%</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2024</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65%</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r h="365760">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2025</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2000" dirty="0">
                          <a:solidFill>
                            <a:srgbClr val="1A1A1A"/>
                          </a:solidFill>
                          <a:latin typeface="Calibri" pitchFamily="34" charset="0"/>
                          <a:ea typeface="Calibri" pitchFamily="34" charset="-122"/>
                          <a:cs typeface="Calibri" pitchFamily="34" charset="-120"/>
                        </a:rPr>
                        <a:t>40%</a:t>
                      </a:r>
                      <a:endParaRPr lang="en-US" sz="20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4114800" y="960120"/>
            <a:ext cx="7589520" cy="5394960"/>
          </a:xfrm>
          <a:prstGeom prst="rect">
            <a:avLst/>
          </a:prstGeom>
          <a:noFill/>
          <a:ln/>
        </p:spPr>
        <p:txBody>
          <a:bodyPr wrap="square" rtlCol="0" anchor="t"/>
          <a:lstStyle/>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OFL 95% CI spans 9.27 to 30.36 kt. The alternative-definition OFLs fall outside it</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We do not consider a larger buffer necessary: the ESP indicates favorable juvenile conditions, the immature 56 to 75 mm males that recruit over the next 2 to 3 years are 36% above their long-term mean, and the Tier 4 OFL of 16.98 kt sits well below the Tier 3 range (43.8 to 147.3 kt)</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5-assessment buffer history mean of 41% (June 2026 SSC supported reporting this)</a:t>
            </a:r>
            <a:endParaRPr lang="en-US" sz="1750" dirty="0"/>
          </a:p>
          <a:p>
            <a:pPr marL="152400" indent="-152400" algn="l">
              <a:spcAft>
                <a:spcPts val="800"/>
              </a:spcAft>
              <a:buSzPct val="100000"/>
              <a:buChar char="•"/>
            </a:pPr>
            <a:r>
              <a:rPr lang="en-US" sz="1750" dirty="0">
                <a:solidFill>
                  <a:srgbClr val="1A1A1A"/>
                </a:solidFill>
                <a:latin typeface="Calibri" pitchFamily="34" charset="0"/>
                <a:ea typeface="Calibri" pitchFamily="34" charset="-122"/>
                <a:cs typeface="Calibri" pitchFamily="34" charset="-120"/>
              </a:rPr>
              <a:t>Discussion point: preferred males are at their 4th lowest and the biomass CI sits entirely below the BMSY proxy. </a:t>
            </a:r>
            <a:r>
              <a:rPr lang="en-US" sz="1750" b="1" dirty="0">
                <a:solidFill>
                  <a:srgbClr val="1A1A1A"/>
                </a:solidFill>
                <a:latin typeface="Calibri" pitchFamily="34" charset="0"/>
                <a:ea typeface="Calibri" pitchFamily="34" charset="-122"/>
                <a:cs typeface="Calibri" pitchFamily="34" charset="-120"/>
              </a:rPr>
              <a:t>Does that argue for a larger buffer?</a:t>
            </a:r>
            <a:endParaRPr lang="en-US" sz="1750" b="1" dirty="0"/>
          </a:p>
        </p:txBody>
      </p:sp>
      <p:pic>
        <p:nvPicPr>
          <p:cNvPr id="90" name="Small males" descr="/tmp/deck/assets/logo2.png"/>
          <p:cNvPicPr>
            <a:picLocks noChangeAspect="1"/>
          </p:cNvPicPr>
          <p:nvPr/>
        </p:nvPicPr>
        <p:blipFill>
          <a:blip r:embed="rId4"/>
          <a:stretch>
            <a:fillRect/>
          </a:stretch>
        </p:blipFill>
        <p:spPr>
          <a:xfrm>
            <a:off x="1834889" y="3900000"/>
            <a:ext cx="8522222" cy="2360000"/>
          </a:xfrm>
          <a:prstGeom prst="rect">
            <a:avLst/>
          </a:prstGeom>
        </p:spPr>
      </p:pic>
      <p:sp>
        <p:nvSpPr>
          <p:cNvPr id="91" name="Small males caption"/>
          <p:cNvSpPr txBox="1"/>
          <p:nvPr/>
        </p:nvSpPr>
        <p:spPr>
          <a:xfrm>
            <a:off x="1834889" y="6280000"/>
            <a:ext cx="8522222" cy="250000"/>
          </a:xfrm>
          <a:prstGeom prst="rect">
            <a:avLst/>
          </a:prstGeom>
          <a:noFill/>
          <a:ln/>
        </p:spPr>
        <p:txBody>
          <a:bodyPr wrap="square" lIns="0" tIns="0" rIns="0" bIns="0" rtlCol="0" anchor="ctr"/>
          <a:lstStyle/>
          <a:p>
            <a:pPr marL="0" indent="0" algn="l">
              <a:buNone/>
            </a:pPr>
            <a:r>
              <a:rPr lang="en-US" sz="900" i="1" dirty="0">
                <a:solidFill>
                  <a:srgbClr val="595959"/>
                </a:solidFill>
                <a:latin typeface="Calibri" pitchFamily="34" charset="0"/>
                <a:ea typeface="Calibri" pitchFamily="34" charset="-122"/>
                <a:cs typeface="Calibri" pitchFamily="34" charset="-120"/>
              </a:rPr>
              <a:t>Immature male abundance by pre-recruit size window, NMFS summer trawl survey, weighted by the assessment maturity ogive. Terminally molted crab are excluded because they never grow again. No 2020 survey.</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Risk table</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42</a:t>
            </a:r>
            <a:endParaRPr lang="en-US" sz="800" dirty="0"/>
          </a:p>
        </p:txBody>
      </p:sp>
      <p:graphicFrame>
        <p:nvGraphicFramePr>
          <p:cNvPr id="39" name="Table 0"/>
          <p:cNvGraphicFramePr>
            <a:graphicFrameLocks noGrp="1"/>
          </p:cNvGraphicFramePr>
          <p:nvPr>
            <p:extLst>
              <p:ext uri="{D42A27DB-BD31-4B8C-83A1-F6EECF244321}">
                <p14:modId xmlns:p14="http://schemas.microsoft.com/office/powerpoint/2010/main" val="4046271426"/>
              </p:ext>
            </p:extLst>
          </p:nvPr>
        </p:nvGraphicFramePr>
        <p:xfrm>
          <a:off x="411480" y="960120"/>
          <a:ext cx="11338560" cy="3429000"/>
        </p:xfrm>
        <a:graphic>
          <a:graphicData uri="http://schemas.openxmlformats.org/drawingml/2006/table">
            <a:tbl>
              <a:tblPr/>
              <a:tblGrid>
                <a:gridCol w="2103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6858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Category</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Long-term / persistent</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Current year</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008998"/>
                    </a:solidFill>
                  </a:tcPr>
                </a:tc>
                <a:extLst>
                  <a:ext uri="{0D108BD9-81ED-4DB2-BD59-A6C34878D82A}">
                    <a16:rowId xmlns:a16="http://schemas.microsoft.com/office/drawing/2014/main" val="10000"/>
                  </a:ext>
                </a:extLst>
              </a:tr>
              <a:tr h="68580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Assessment-related</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Level 2: multimodality has persisted across cycles and drove the move to Tier 4</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Level 1: Tier 4 terminal biomass CV 14.8%</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Population dynamics</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Level 2: considerable uncertainty in M, recruitment retrospective bias, declining size at maturity</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Level 2: preferred males 4th lowest in 44 years, with a female-skewed sex ratio</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2"/>
                  </a:ext>
                </a:extLst>
              </a:tr>
              <a:tr h="68580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Ecosystem</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Not scored</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Level 1: cold pool and sea ice favorable, with offshelf spring transport a caveat</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Fishery-informed</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Not scored</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tc>
                  <a:txBody>
                    <a:bodyPr/>
                    <a:lstStyle/>
                    <a:p>
                      <a:pPr marL="0" indent="0" algn="l">
                        <a:buNone/>
                      </a:pPr>
                      <a:r>
                        <a:rPr lang="en-US" sz="1600" dirty="0">
                          <a:solidFill>
                            <a:srgbClr val="1A1A1A"/>
                          </a:solidFill>
                          <a:latin typeface="Calibri" pitchFamily="34" charset="0"/>
                          <a:ea typeface="Calibri" pitchFamily="34" charset="-122"/>
                          <a:cs typeface="Calibri" pitchFamily="34" charset="-120"/>
                        </a:rPr>
                        <a:t>Level 1: fleet behavior driven by weather, sorting, fuel, TAC</a:t>
                      </a:r>
                      <a:endParaRPr lang="en-US" sz="1600" dirty="0">
                        <a:latin typeface="Calibri" charset="0"/>
                        <a:ea typeface="Calibri" charset="0"/>
                        <a:cs typeface="Calibri" charset="0"/>
                      </a:endParaRPr>
                    </a:p>
                  </a:txBody>
                  <a:tcPr anchor="ctr">
                    <a:lnL w="6350" cap="flat" cmpd="sng" algn="ctr">
                      <a:solidFill>
                        <a:srgbClr val="D5E6E9"/>
                      </a:solidFill>
                      <a:prstDash val="solid"/>
                      <a:round/>
                      <a:headEnd type="none" w="med" len="med"/>
                      <a:tailEnd type="none" w="med" len="med"/>
                    </a:lnL>
                    <a:lnR w="6350" cap="flat" cmpd="sng" algn="ctr">
                      <a:solidFill>
                        <a:srgbClr val="D5E6E9"/>
                      </a:solidFill>
                      <a:prstDash val="solid"/>
                      <a:round/>
                      <a:headEnd type="none" w="med" len="med"/>
                      <a:tailEnd type="none" w="med" len="med"/>
                    </a:lnR>
                    <a:lnT w="6350" cap="flat" cmpd="sng" algn="ctr">
                      <a:solidFill>
                        <a:srgbClr val="D5E6E9"/>
                      </a:solidFill>
                      <a:prstDash val="solid"/>
                      <a:round/>
                      <a:headEnd type="none" w="med" len="med"/>
                      <a:tailEnd type="none" w="med" len="med"/>
                    </a:lnT>
                    <a:lnB w="6350" cap="flat" cmpd="sng" algn="ctr">
                      <a:solidFill>
                        <a:srgbClr val="D5E6E9"/>
                      </a:solidFill>
                      <a:prstDash val="solid"/>
                      <a:round/>
                      <a:headEnd type="none" w="med" len="med"/>
                      <a:tailEnd type="none" w="med" len="med"/>
                    </a:lnB>
                    <a:solidFill>
                      <a:srgbClr val="F2F8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Rebuilding and next steps</a:t>
            </a:r>
            <a:endParaRPr lang="en-US" sz="4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Rebuilding status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44</a:t>
            </a:r>
            <a:endParaRPr lang="en-US" sz="800" dirty="0"/>
          </a:p>
        </p:txBody>
      </p:sp>
      <p:sp>
        <p:nvSpPr>
          <p:cNvPr id="7" name="Text 4"/>
          <p:cNvSpPr txBox="1"/>
          <p:nvPr/>
        </p:nvSpPr>
        <p:spPr>
          <a:xfrm>
            <a:off x="411480" y="914400"/>
            <a:ext cx="11338560" cy="2480000"/>
          </a:xfrm>
          <a:prstGeom prst="rect">
            <a:avLst/>
          </a:prstGeom>
          <a:noFill/>
          <a:ln/>
        </p:spPr>
        <p:txBody>
          <a:bodyPr wrap="square" rtlCol="0" anchor="t"/>
          <a:lstStyle/>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Amendment 53 rebuilding plan: Tmin, the minimum time to rebuild with no fishing, is 6 years, which sets Tmax, the longest period National Standard 1 allows, at 10 years. Rebuilt when MMB reaches the BMSY proxy</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Median projections (rebuilt by 2029 under no fishing, bycatch only, and the State harvest strategy, and by 2030 fishing at the ABC) come from the rebuilding analysis in the Amendment 53 final EA (NPFMC and NMFS 2023), not from this assessment. No model run this cycle produces a projection</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With 2018-19-type mortality events recurring ~1 year in 7, rebuilding extends to 2034 or beyond</a:t>
            </a:r>
            <a:endParaRPr lang="en-US" sz="1400" dirty="0"/>
          </a:p>
          <a:p>
            <a:pPr marL="152400" indent="-152400" algn="l">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Main driver is recruitment and the ecosystem conditions permitting it, not fishing mortality. Model 26.1b recruitment collapsed to 0.06-0.09 billion in 2018-19, recovered to 1.6-4.2 billion over 2020-2022 and ~1.0 billion in 2024-25 (terminal estimates uncertain, rho = 8.1)</a:t>
            </a:r>
            <a:endParaRPr lang="en-US" sz="1400" dirty="0"/>
          </a:p>
        </p:txBody>
      </p:sp>
      <p:pic>
        <p:nvPicPr>
          <p:cNvPr id="8" name="Image 1" descr="/tmp/deck/media/predmmb.png"/>
          <p:cNvPicPr>
            <a:picLocks noChangeAspect="1"/>
          </p:cNvPicPr>
          <p:nvPr/>
        </p:nvPicPr>
        <p:blipFill>
          <a:blip r:embed="rId4"/>
          <a:stretch>
            <a:fillRect/>
          </a:stretch>
        </p:blipFill>
        <p:spPr>
          <a:xfrm>
            <a:off x="2114750" y="3450000"/>
            <a:ext cx="7962500" cy="2450000"/>
          </a:xfrm>
          <a:prstGeom prst="rect">
            <a:avLst/>
          </a:prstGeom>
        </p:spPr>
      </p:pic>
      <p:sp>
        <p:nvSpPr>
          <p:cNvPr id="9" name="Text 5"/>
          <p:cNvSpPr txBox="1"/>
          <p:nvPr/>
        </p:nvSpPr>
        <p:spPr>
          <a:xfrm>
            <a:off x="2114750" y="5920000"/>
            <a:ext cx="7962500" cy="250000"/>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REMA smoothed mature male biomass with its 95% prediction interval, against the rebuilt threshold and the MSST.</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Research priorities for the January 2027 workshop</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45</a:t>
            </a:r>
            <a:endParaRPr lang="en-US" sz="800" dirty="0"/>
          </a:p>
        </p:txBody>
      </p:sp>
      <p:sp>
        <p:nvSpPr>
          <p:cNvPr id="7" name="Text 4"/>
          <p:cNvSpPr txBox="1"/>
          <p:nvPr/>
        </p:nvSpPr>
        <p:spPr>
          <a:xfrm>
            <a:off x="411480" y="914400"/>
            <a:ext cx="10881360" cy="5394960"/>
          </a:xfrm>
          <a:prstGeom prst="rect">
            <a:avLst/>
          </a:prstGeom>
          <a:noFill/>
          <a:ln/>
        </p:spPr>
        <p:txBody>
          <a:bodyPr wrap="square" rtlCol="0" anchor="t"/>
          <a:lstStyle/>
          <a:p>
            <a:pPr marL="152400" indent="-152400" algn="l">
              <a:spcAft>
                <a:spcPts val="1000"/>
              </a:spcAft>
              <a:buSzPct val="100000"/>
              <a:buChar char="•"/>
            </a:pPr>
            <a:r>
              <a:rPr lang="en-US" sz="1800" dirty="0">
                <a:solidFill>
                  <a:srgbClr val="1A1A1A"/>
                </a:solidFill>
                <a:latin typeface="Calibri" pitchFamily="34" charset="0"/>
                <a:ea typeface="Calibri" pitchFamily="34" charset="-122"/>
                <a:cs typeface="Calibri" pitchFamily="34" charset="-120"/>
              </a:rPr>
              <a:t>Convergence work with male-only model: staged simplification, re-adding complexity while testing convergence at each step</a:t>
            </a:r>
            <a:endParaRPr lang="en-US" sz="1800" dirty="0"/>
          </a:p>
          <a:p>
            <a:pPr marL="152400" indent="-152400" algn="l">
              <a:spcAft>
                <a:spcPts val="1000"/>
              </a:spcAft>
              <a:buSzPct val="100000"/>
              <a:buChar char="•"/>
            </a:pPr>
            <a:r>
              <a:rPr lang="en-US" sz="1800" dirty="0">
                <a:solidFill>
                  <a:srgbClr val="1A1A1A"/>
                </a:solidFill>
                <a:latin typeface="Calibri" pitchFamily="34" charset="0"/>
                <a:ea typeface="Calibri" pitchFamily="34" charset="-122"/>
                <a:cs typeface="Calibri" pitchFamily="34" charset="-120"/>
              </a:rPr>
              <a:t>Likelihood profiles once a stable model exists</a:t>
            </a:r>
          </a:p>
          <a:p>
            <a:pPr marL="152400" indent="-152400" algn="l">
              <a:spcAft>
                <a:spcPts val="1000"/>
              </a:spcAft>
              <a:buSzPct val="100000"/>
              <a:buChar char="•"/>
            </a:pPr>
            <a:r>
              <a:rPr lang="en-US" dirty="0">
                <a:solidFill>
                  <a:srgbClr val="1A1A1A"/>
                </a:solidFill>
                <a:latin typeface="Calibri" pitchFamily="34" charset="0"/>
                <a:cs typeface="Calibri" pitchFamily="34" charset="-120"/>
              </a:rPr>
              <a:t>Match survey data processing to Tanner?</a:t>
            </a:r>
            <a:endParaRPr lang="en-US" sz="1800" dirty="0"/>
          </a:p>
          <a:p>
            <a:pPr marL="152400" indent="-152400" algn="l">
              <a:spcAft>
                <a:spcPts val="1000"/>
              </a:spcAft>
              <a:buSzPct val="100000"/>
              <a:buChar char="•"/>
            </a:pPr>
            <a:r>
              <a:rPr lang="en-US" sz="1800" dirty="0">
                <a:solidFill>
                  <a:srgbClr val="1A1A1A"/>
                </a:solidFill>
                <a:latin typeface="Calibri" pitchFamily="34" charset="0"/>
                <a:ea typeface="Calibri" pitchFamily="34" charset="-122"/>
                <a:cs typeface="Calibri" pitchFamily="34" charset="-120"/>
              </a:rPr>
              <a:t>Growth data audit, actual composition sample sizes, and discard mortality handled inside GMACS</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Summary and requests to the CPT</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46</a:t>
            </a:r>
            <a:endParaRPr lang="en-US" sz="800" dirty="0"/>
          </a:p>
        </p:txBody>
      </p:sp>
      <p:sp>
        <p:nvSpPr>
          <p:cNvPr id="7" name="Text 4"/>
          <p:cNvSpPr txBox="1"/>
          <p:nvPr/>
        </p:nvSpPr>
        <p:spPr>
          <a:xfrm>
            <a:off x="411480" y="914400"/>
            <a:ext cx="10881360" cy="5394960"/>
          </a:xfrm>
          <a:prstGeom prst="rect">
            <a:avLst/>
          </a:prstGeom>
          <a:noFill/>
          <a:ln/>
        </p:spPr>
        <p:txBody>
          <a:bodyPr wrap="square" rtlCol="0" anchor="t"/>
          <a:lstStyle/>
          <a:p>
            <a:pPr marL="152400" indent="-152400" algn="l">
              <a:spcAft>
                <a:spcPts val="1000"/>
              </a:spcAft>
              <a:buSzPct val="100000"/>
              <a:buChar char="•"/>
            </a:pPr>
            <a:r>
              <a:rPr lang="en-US" sz="1850" b="1" dirty="0">
                <a:solidFill>
                  <a:srgbClr val="1A1A1A"/>
                </a:solidFill>
                <a:latin typeface="Calibri" pitchFamily="34" charset="0"/>
                <a:ea typeface="Calibri" pitchFamily="34" charset="-122"/>
                <a:cs typeface="Calibri" pitchFamily="34" charset="-120"/>
              </a:rPr>
              <a:t>Recommended 2026/27 specification (Tier 4, morphometric MMB, ramped rule + Baranov): OFL 16.98 kt, ABC 13.58 kt (20% buffer)</a:t>
            </a:r>
            <a:endParaRPr lang="en-US" sz="1850" dirty="0"/>
          </a:p>
          <a:p>
            <a:pPr marL="152400" indent="-152400" algn="l">
              <a:spcAft>
                <a:spcPts val="1000"/>
              </a:spcAft>
              <a:buSzPct val="100000"/>
              <a:buChar char="•"/>
            </a:pPr>
            <a:r>
              <a:rPr lang="en-US" sz="1850" dirty="0">
                <a:solidFill>
                  <a:srgbClr val="1A1A1A"/>
                </a:solidFill>
                <a:latin typeface="Calibri" pitchFamily="34" charset="0"/>
                <a:ea typeface="Calibri" pitchFamily="34" charset="-122"/>
                <a:cs typeface="Calibri" pitchFamily="34" charset="-120"/>
              </a:rPr>
              <a:t>Status 0.747. Not overfished, no overfishing, rebuilding continues</a:t>
            </a:r>
            <a:endParaRPr lang="en-US" sz="1850" dirty="0"/>
          </a:p>
          <a:p>
            <a:pPr marL="152400" indent="-152400" algn="l">
              <a:spcAft>
                <a:spcPts val="1000"/>
              </a:spcAft>
              <a:buSzPct val="100000"/>
              <a:buChar char="•"/>
            </a:pPr>
            <a:r>
              <a:rPr lang="en-US" sz="1850" dirty="0">
                <a:solidFill>
                  <a:srgbClr val="1A1A1A"/>
                </a:solidFill>
                <a:latin typeface="Calibri" pitchFamily="34" charset="0"/>
                <a:ea typeface="Calibri" pitchFamily="34" charset="-122"/>
                <a:cs typeface="Calibri" pitchFamily="34" charset="-120"/>
              </a:rPr>
              <a:t>Net-mensuration correction incorporated throughout the models fit to current data</a:t>
            </a:r>
            <a:endParaRPr lang="en-US" sz="1850" dirty="0"/>
          </a:p>
          <a:p>
            <a:pPr marL="152400" indent="-152400" algn="l">
              <a:spcAft>
                <a:spcPts val="1000"/>
              </a:spcAft>
              <a:buSzPct val="100000"/>
              <a:buChar char="•"/>
            </a:pPr>
            <a:r>
              <a:rPr lang="en-US" sz="1850" dirty="0">
                <a:solidFill>
                  <a:srgbClr val="1A1A1A"/>
                </a:solidFill>
                <a:latin typeface="Calibri" pitchFamily="34" charset="0"/>
                <a:ea typeface="Calibri" pitchFamily="34" charset="-122"/>
                <a:cs typeface="Calibri" pitchFamily="34" charset="-120"/>
              </a:rPr>
              <a:t>Tier 3 models document real progress. Male-only is the suggested path to a stable model for 2027</a:t>
            </a:r>
            <a:endParaRPr lang="en-US" sz="1850" dirty="0"/>
          </a:p>
          <a:p>
            <a:pPr marL="152400" indent="-152400" algn="l">
              <a:spcAft>
                <a:spcPts val="1000"/>
              </a:spcAft>
              <a:buSzPct val="100000"/>
              <a:buChar char="•"/>
            </a:pPr>
            <a:r>
              <a:rPr lang="en-US" sz="1850" b="1" dirty="0">
                <a:solidFill>
                  <a:srgbClr val="1A1A1A"/>
                </a:solidFill>
                <a:latin typeface="Calibri" pitchFamily="34" charset="0"/>
                <a:ea typeface="Calibri" pitchFamily="34" charset="-122"/>
                <a:cs typeface="Calibri" pitchFamily="34" charset="-120"/>
              </a:rPr>
              <a:t>Requests:</a:t>
            </a:r>
            <a:endParaRPr lang="en-US" sz="1850" dirty="0"/>
          </a:p>
          <a:p>
            <a:pPr marL="304800" lvl="1" indent="-152400" algn="l">
              <a:spcAft>
                <a:spcPts val="1000"/>
              </a:spcAft>
              <a:buSzPct val="100000"/>
              <a:buChar char="•"/>
            </a:pPr>
            <a:r>
              <a:rPr lang="en-US" sz="1850" dirty="0">
                <a:solidFill>
                  <a:srgbClr val="1A1A1A"/>
                </a:solidFill>
                <a:latin typeface="Calibri" pitchFamily="34" charset="0"/>
                <a:ea typeface="Calibri" pitchFamily="34" charset="-122"/>
                <a:cs typeface="Calibri" pitchFamily="34" charset="-120"/>
              </a:rPr>
              <a:t>Feedback on the 20% buffer given the correction and the preferred-male situation</a:t>
            </a:r>
            <a:endParaRPr lang="en-US" sz="1850" dirty="0"/>
          </a:p>
          <a:p>
            <a:pPr marL="304800" lvl="1" indent="-152400" algn="l">
              <a:spcAft>
                <a:spcPts val="1000"/>
              </a:spcAft>
              <a:buSzPct val="100000"/>
              <a:buChar char="•"/>
            </a:pPr>
            <a:r>
              <a:rPr lang="en-US" sz="1850" dirty="0">
                <a:solidFill>
                  <a:srgbClr val="1A1A1A"/>
                </a:solidFill>
                <a:latin typeface="Calibri" pitchFamily="34" charset="0"/>
                <a:ea typeface="Calibri" pitchFamily="34" charset="-122"/>
                <a:cs typeface="Calibri" pitchFamily="34" charset="-120"/>
              </a:rPr>
              <a:t>Guidance on model simplification for the January 2027 workshop (ask Andre…)</a:t>
            </a:r>
            <a:endParaRPr lang="en-US" sz="1850" dirty="0"/>
          </a:p>
          <a:p>
            <a:pPr marL="304800" lvl="1" indent="-152400" algn="l">
              <a:spcAft>
                <a:spcPts val="1000"/>
              </a:spcAft>
              <a:buSzPct val="100000"/>
              <a:buChar char="•"/>
            </a:pPr>
            <a:r>
              <a:rPr lang="en-US" sz="1850" dirty="0">
                <a:solidFill>
                  <a:srgbClr val="1A1A1A"/>
                </a:solidFill>
                <a:latin typeface="Calibri" pitchFamily="34" charset="0"/>
                <a:ea typeface="Calibri" pitchFamily="34" charset="-122"/>
                <a:cs typeface="Calibri" pitchFamily="34" charset="-120"/>
              </a:rPr>
              <a:t>Endorsement of the maturity reporting approach: the specification is set on morphometric MMB, with the &gt;= 95 mm and &gt; 101 mm results shown alongside it in every table</a:t>
            </a:r>
            <a:endParaRPr lang="en-US" sz="1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tmp/deck/assets/divbg-8.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46888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Backup slides</a:t>
            </a:r>
            <a:endParaRPr lang="en-US" sz="4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Backup: jitter diagnostics, Model 26.1b</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48</a:t>
            </a:r>
            <a:endParaRPr lang="en-US" sz="800" dirty="0"/>
          </a:p>
        </p:txBody>
      </p:sp>
      <p:pic>
        <p:nvPicPr>
          <p:cNvPr id="7" name="Image 1" descr="/tmp/deck/media/conv_accepted.png"/>
          <p:cNvPicPr>
            <a:picLocks noChangeAspect="1"/>
          </p:cNvPicPr>
          <p:nvPr/>
        </p:nvPicPr>
        <p:blipFill>
          <a:blip r:embed="rId4"/>
          <a:stretch>
            <a:fillRect/>
          </a:stretch>
        </p:blipFill>
        <p:spPr>
          <a:xfrm>
            <a:off x="3833778" y="880000"/>
            <a:ext cx="4524444" cy="5090000"/>
          </a:xfrm>
          <a:prstGeom prst="rect">
            <a:avLst/>
          </a:prstGeom>
        </p:spPr>
      </p:pic>
      <p:sp>
        <p:nvSpPr>
          <p:cNvPr id="8" name="Text 4"/>
          <p:cNvSpPr txBox="1"/>
          <p:nvPr/>
        </p:nvSpPr>
        <p:spPr>
          <a:xfrm>
            <a:off x="2333778" y="6020000"/>
            <a:ext cx="7524444"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Jitter diagnostics, Model 26.1b (accepted).</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2"/>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Backup: jitter diagnostics, Model 26.2 (male-only)</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49</a:t>
            </a:r>
            <a:endParaRPr lang="en-US" sz="800" dirty="0"/>
          </a:p>
        </p:txBody>
      </p:sp>
      <p:pic>
        <p:nvPicPr>
          <p:cNvPr id="9" name="Image 2" descr="/tmp/deck/media/conv_maleonly.png"/>
          <p:cNvPicPr>
            <a:picLocks noChangeAspect="1"/>
          </p:cNvPicPr>
          <p:nvPr/>
        </p:nvPicPr>
        <p:blipFill>
          <a:blip r:embed="rId3"/>
          <a:stretch>
            <a:fillRect/>
          </a:stretch>
        </p:blipFill>
        <p:spPr>
          <a:xfrm>
            <a:off x="3833778" y="880000"/>
            <a:ext cx="4524444" cy="5090000"/>
          </a:xfrm>
          <a:prstGeom prst="rect">
            <a:avLst/>
          </a:prstGeom>
        </p:spPr>
      </p:pic>
      <p:sp>
        <p:nvSpPr>
          <p:cNvPr id="10" name="Text 5"/>
          <p:cNvSpPr txBox="1"/>
          <p:nvPr/>
        </p:nvSpPr>
        <p:spPr>
          <a:xfrm>
            <a:off x="2333778" y="6020000"/>
            <a:ext cx="7524444"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Jitter diagnostics, Model 26.2 (male-only).</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Backup: retrospective variants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50</a:t>
            </a:r>
            <a:endParaRPr lang="en-US" sz="800" dirty="0"/>
          </a:p>
        </p:txBody>
      </p:sp>
      <p:pic>
        <p:nvPicPr>
          <p:cNvPr id="7" name="Image 1" descr="/tmp/deck/media/retro_drop.png"/>
          <p:cNvPicPr>
            <a:picLocks noChangeAspect="1"/>
          </p:cNvPicPr>
          <p:nvPr/>
        </p:nvPicPr>
        <p:blipFill>
          <a:blip r:embed="rId4"/>
          <a:stretch>
            <a:fillRect/>
          </a:stretch>
        </p:blipFill>
        <p:spPr>
          <a:xfrm>
            <a:off x="411480" y="1188720"/>
            <a:ext cx="5486400" cy="4114800"/>
          </a:xfrm>
          <a:prstGeom prst="rect">
            <a:avLst/>
          </a:prstGeom>
        </p:spPr>
      </p:pic>
      <p:sp>
        <p:nvSpPr>
          <p:cNvPr id="8" name="Text 4"/>
          <p:cNvSpPr txBox="1"/>
          <p:nvPr/>
        </p:nvSpPr>
        <p:spPr>
          <a:xfrm>
            <a:off x="411480" y="5376672"/>
            <a:ext cx="54864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Terminal-survey-dropped retrospective.</a:t>
            </a:r>
            <a:endParaRPr lang="en-US" sz="1150" dirty="0"/>
          </a:p>
        </p:txBody>
      </p:sp>
      <p:pic>
        <p:nvPicPr>
          <p:cNvPr id="9" name="Image 2" descr="/tmp/deck/media/retro_terminal.png"/>
          <p:cNvPicPr>
            <a:picLocks noChangeAspect="1"/>
          </p:cNvPicPr>
          <p:nvPr/>
        </p:nvPicPr>
        <p:blipFill>
          <a:blip r:embed="rId5"/>
          <a:stretch>
            <a:fillRect/>
          </a:stretch>
        </p:blipFill>
        <p:spPr>
          <a:xfrm>
            <a:off x="6355080" y="1463040"/>
            <a:ext cx="5486400" cy="3429000"/>
          </a:xfrm>
          <a:prstGeom prst="rect">
            <a:avLst/>
          </a:prstGeom>
        </p:spPr>
      </p:pic>
      <p:sp>
        <p:nvSpPr>
          <p:cNvPr id="10" name="Text 5"/>
          <p:cNvSpPr txBox="1"/>
          <p:nvPr/>
        </p:nvSpPr>
        <p:spPr>
          <a:xfrm>
            <a:off x="6355080" y="4965192"/>
            <a:ext cx="54864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Terminal-year estimates by peel vs full model.</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Backup: selectivity and maturity inputs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51</a:t>
            </a:r>
            <a:endParaRPr lang="en-US" sz="800" dirty="0"/>
          </a:p>
        </p:txBody>
      </p:sp>
      <p:pic>
        <p:nvPicPr>
          <p:cNvPr id="7" name="Image 1" descr="/tmp/deck/media/select_prior.png"/>
          <p:cNvPicPr>
            <a:picLocks noChangeAspect="1"/>
          </p:cNvPicPr>
          <p:nvPr/>
        </p:nvPicPr>
        <p:blipFill>
          <a:blip r:embed="rId4"/>
          <a:stretch>
            <a:fillRect/>
          </a:stretch>
        </p:blipFill>
        <p:spPr>
          <a:xfrm>
            <a:off x="411480" y="1280160"/>
            <a:ext cx="5486400" cy="4220308"/>
          </a:xfrm>
          <a:prstGeom prst="rect">
            <a:avLst/>
          </a:prstGeom>
        </p:spPr>
      </p:pic>
      <p:sp>
        <p:nvSpPr>
          <p:cNvPr id="8" name="Text 4"/>
          <p:cNvSpPr txBox="1"/>
          <p:nvPr/>
        </p:nvSpPr>
        <p:spPr>
          <a:xfrm>
            <a:off x="411480" y="5573620"/>
            <a:ext cx="548640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Survey selectivity with BSFRF-derived priors.</a:t>
            </a:r>
            <a:endParaRPr lang="en-US" sz="1150" dirty="0"/>
          </a:p>
        </p:txBody>
      </p:sp>
      <p:pic>
        <p:nvPicPr>
          <p:cNvPr id="9" name="Image 2" descr="/tmp/deck/media/predmat.png"/>
          <p:cNvPicPr>
            <a:picLocks noChangeAspect="1"/>
          </p:cNvPicPr>
          <p:nvPr/>
        </p:nvPicPr>
        <p:blipFill>
          <a:blip r:embed="rId5"/>
          <a:stretch>
            <a:fillRect/>
          </a:stretch>
        </p:blipFill>
        <p:spPr>
          <a:xfrm>
            <a:off x="6949440" y="914400"/>
            <a:ext cx="3931920" cy="4839286"/>
          </a:xfrm>
          <a:prstGeom prst="rect">
            <a:avLst/>
          </a:prstGeom>
        </p:spPr>
      </p:pic>
      <p:sp>
        <p:nvSpPr>
          <p:cNvPr id="10" name="Text 5"/>
          <p:cNvSpPr txBox="1"/>
          <p:nvPr/>
        </p:nvSpPr>
        <p:spPr>
          <a:xfrm>
            <a:off x="6949440" y="5826838"/>
            <a:ext cx="393192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Probability of maturing: estimated vs specified.</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pic>
        <p:nvPicPr>
          <p:cNvPr id="2" name="Image 0" descr="/tmp/deck/assets/logo2.png"/>
          <p:cNvPicPr>
            <a:picLocks noChangeAspect="1"/>
          </p:cNvPicPr>
          <p:nvPr/>
        </p:nvPicPr>
        <p:blipFill>
          <a:blip r:embed="rId3"/>
          <a:stretch>
            <a:fillRect/>
          </a:stretch>
        </p:blipFill>
        <p:spPr>
          <a:xfrm>
            <a:off x="10710367" y="201168"/>
            <a:ext cx="1161288" cy="274320"/>
          </a:xfrm>
          <a:prstGeom prst="rect">
            <a:avLst/>
          </a:prstGeom>
        </p:spPr>
      </p:pic>
      <p:sp>
        <p:nvSpPr>
          <p:cNvPr id="3" name="Text 0"/>
          <p:cNvSpPr txBox="1"/>
          <p:nvPr/>
        </p:nvSpPr>
        <p:spPr>
          <a:xfrm>
            <a:off x="411480" y="164592"/>
            <a:ext cx="9966960" cy="566928"/>
          </a:xfrm>
          <a:prstGeom prst="rect">
            <a:avLst/>
          </a:prstGeom>
          <a:noFill/>
          <a:ln/>
        </p:spPr>
        <p:txBody>
          <a:bodyPr wrap="square" lIns="0" tIns="0" rIns="0" bIns="0" rtlCol="0" anchor="ctr"/>
          <a:lstStyle/>
          <a:p>
            <a:pPr marL="0" indent="0" algn="l">
              <a:buNone/>
            </a:pPr>
            <a:r>
              <a:rPr lang="en-US" sz="2600" b="1" dirty="0">
                <a:solidFill>
                  <a:srgbClr val="008998"/>
                </a:solidFill>
                <a:latin typeface="Calibri" pitchFamily="34" charset="0"/>
                <a:ea typeface="Calibri" pitchFamily="34" charset="-122"/>
                <a:cs typeface="Calibri" pitchFamily="34" charset="-120"/>
              </a:rPr>
              <a:t>Backup: catch data series</a:t>
            </a:r>
            <a:endParaRPr lang="en-US" sz="2600" dirty="0"/>
          </a:p>
        </p:txBody>
      </p:sp>
      <p:sp>
        <p:nvSpPr>
          <p:cNvPr id="4" name="Shape 1"/>
          <p:cNvSpPr/>
          <p:nvPr/>
        </p:nvSpPr>
        <p:spPr>
          <a:xfrm>
            <a:off x="0" y="6583680"/>
            <a:ext cx="12191695" cy="274320"/>
          </a:xfrm>
          <a:prstGeom prst="rect">
            <a:avLst/>
          </a:prstGeom>
          <a:solidFill>
            <a:srgbClr val="CCE7EA"/>
          </a:solidFill>
          <a:ln/>
        </p:spPr>
        <p:txBody>
          <a:bodyPr/>
          <a:lstStyle/>
          <a:p>
            <a:endParaRPr lang="en-US"/>
          </a:p>
        </p:txBody>
      </p:sp>
      <p:sp>
        <p:nvSpPr>
          <p:cNvPr id="5" name="Text 2"/>
          <p:cNvSpPr txBox="1"/>
          <p:nvPr/>
        </p:nvSpPr>
        <p:spPr>
          <a:xfrm>
            <a:off x="411480" y="6574536"/>
            <a:ext cx="8778240" cy="274320"/>
          </a:xfrm>
          <a:prstGeom prst="rect">
            <a:avLst/>
          </a:prstGeom>
          <a:noFill/>
          <a:ln/>
        </p:spPr>
        <p:txBody>
          <a:bodyPr wrap="square" lIns="0" tIns="0" rIns="0" bIns="0" rtlCol="0" anchor="ctr"/>
          <a:lstStyle/>
          <a:p>
            <a:pPr marL="0" indent="0" algn="l">
              <a:buNone/>
            </a:pPr>
            <a:r>
              <a:rPr lang="en-US" sz="800" dirty="0">
                <a:solidFill>
                  <a:srgbClr val="2C5283"/>
                </a:solidFill>
                <a:latin typeface="Calibri" pitchFamily="34" charset="0"/>
                <a:ea typeface="Calibri" pitchFamily="34" charset="-122"/>
                <a:cs typeface="Calibri" pitchFamily="34" charset="-120"/>
              </a:rPr>
              <a:t>U.S. Department of Commerce  |  National Oceanic and Atmospheric Administration  |  National Marine Fisheries Service</a:t>
            </a:r>
            <a:endParaRPr lang="en-US" sz="800" dirty="0"/>
          </a:p>
        </p:txBody>
      </p:sp>
      <p:sp>
        <p:nvSpPr>
          <p:cNvPr id="6" name="Text 3"/>
          <p:cNvSpPr txBox="1"/>
          <p:nvPr/>
        </p:nvSpPr>
        <p:spPr>
          <a:xfrm>
            <a:off x="8671255" y="6574536"/>
            <a:ext cx="3108960" cy="274320"/>
          </a:xfrm>
          <a:prstGeom prst="rect">
            <a:avLst/>
          </a:prstGeom>
          <a:noFill/>
          <a:ln/>
        </p:spPr>
        <p:txBody>
          <a:bodyPr wrap="square" lIns="0" tIns="0" rIns="0" bIns="0" rtlCol="0" anchor="ctr"/>
          <a:lstStyle/>
          <a:p>
            <a:pPr marL="0" indent="0" algn="r">
              <a:buNone/>
            </a:pPr>
            <a:r>
              <a:rPr lang="en-US" sz="800" dirty="0">
                <a:solidFill>
                  <a:srgbClr val="2C5283"/>
                </a:solidFill>
                <a:latin typeface="Calibri" pitchFamily="34" charset="0"/>
                <a:ea typeface="Calibri" pitchFamily="34" charset="-122"/>
                <a:cs typeface="Calibri" pitchFamily="34" charset="-120"/>
              </a:rPr>
              <a:t>EBS snow crab  |  September 2026 CPT  |  52</a:t>
            </a:r>
            <a:endParaRPr lang="en-US" sz="800" dirty="0"/>
          </a:p>
        </p:txBody>
      </p:sp>
      <p:pic>
        <p:nvPicPr>
          <p:cNvPr id="7" name="Image 1" descr="/tmp/deck/media/catchdata.png"/>
          <p:cNvPicPr>
            <a:picLocks noChangeAspect="1"/>
          </p:cNvPicPr>
          <p:nvPr/>
        </p:nvPicPr>
        <p:blipFill>
          <a:blip r:embed="rId4"/>
          <a:stretch>
            <a:fillRect/>
          </a:stretch>
        </p:blipFill>
        <p:spPr>
          <a:xfrm>
            <a:off x="426720" y="1417457"/>
            <a:ext cx="11338560" cy="4049485"/>
          </a:xfrm>
          <a:prstGeom prst="rect">
            <a:avLst/>
          </a:prstGeom>
        </p:spPr>
      </p:pic>
      <p:sp>
        <p:nvSpPr>
          <p:cNvPr id="8" name="Text 4"/>
          <p:cNvSpPr txBox="1"/>
          <p:nvPr/>
        </p:nvSpPr>
        <p:spPr>
          <a:xfrm>
            <a:off x="426720" y="5526942"/>
            <a:ext cx="11338560" cy="384048"/>
          </a:xfrm>
          <a:prstGeom prst="rect">
            <a:avLst/>
          </a:prstGeom>
          <a:noFill/>
          <a:ln/>
        </p:spPr>
        <p:txBody>
          <a:bodyPr wrap="square" lIns="0" tIns="0" rIns="0" bIns="0" rtlCol="0" anchor="t"/>
          <a:lstStyle/>
          <a:p>
            <a:pPr marL="0" indent="0">
              <a:buNone/>
            </a:pPr>
            <a:r>
              <a:rPr lang="en-US" sz="1150" i="1" dirty="0">
                <a:solidFill>
                  <a:srgbClr val="5A6771"/>
                </a:solidFill>
                <a:latin typeface="Calibri" pitchFamily="34" charset="0"/>
                <a:ea typeface="Calibri" pitchFamily="34" charset="-122"/>
                <a:cs typeface="Calibri" pitchFamily="34" charset="-120"/>
              </a:rPr>
              <a:t>Catch and fishery composition series used in the assessment, and the crab years each spans.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6362</Words>
  <Application>Microsoft Macintosh PowerPoint</Application>
  <PresentationFormat>Widescreen</PresentationFormat>
  <Paragraphs>761</Paragraphs>
  <Slides>52</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grant.adams</cp:lastModifiedBy>
  <cp:revision>42</cp:revision>
  <dcterms:created xsi:type="dcterms:W3CDTF">2026-09-15T00:22:55Z</dcterms:created>
  <dcterms:modified xsi:type="dcterms:W3CDTF">2026-09-16T04:03:35Z</dcterms:modified>
</cp:coreProperties>
</file>